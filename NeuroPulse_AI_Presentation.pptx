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4" r:id="rId1"/>
  </p:sldMasterIdLst>
  <p:notesMasterIdLst>
    <p:notesMasterId r:id="rId8"/>
  </p:notesMasterIdLst>
  <p:sldIdLst>
    <p:sldId id="256" r:id="rId2"/>
    <p:sldId id="257" r:id="rId3"/>
    <p:sldId id="259" r:id="rId4"/>
    <p:sldId id="260" r:id="rId5"/>
    <p:sldId id="258" r:id="rId6"/>
    <p:sldId id="261" r:id="rId7"/>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4610"/>
  </p:normalViewPr>
  <p:slideViewPr>
    <p:cSldViewPr snapToGrid="0" snapToObjects="1">
      <p:cViewPr>
        <p:scale>
          <a:sx n="121" d="100"/>
          <a:sy n="121" d="100"/>
        </p:scale>
        <p:origin x="304"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906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GB"/>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68185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456928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GB"/>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9324094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90586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7630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1635833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8/6/26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6721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57411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159704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1895577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65463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861217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9352992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936526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644967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GB"/>
              <a:t>Click to edit Master title style</a:t>
            </a:r>
            <a:endParaRPr lang="en-US" dirty="0"/>
          </a:p>
        </p:txBody>
      </p:sp>
    </p:spTree>
    <p:extLst>
      <p:ext uri="{BB962C8B-B14F-4D97-AF65-F5344CB8AC3E}">
        <p14:creationId xmlns:p14="http://schemas.microsoft.com/office/powerpoint/2010/main" val="51073838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2140725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451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8/6/26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82007581"/>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25.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76656"/>
            <a:ext cx="10789920" cy="777240"/>
          </a:xfrm>
          <a:prstGeom prst="rect">
            <a:avLst/>
          </a:prstGeom>
          <a:noFill/>
          <a:ln/>
        </p:spPr>
        <p:txBody>
          <a:bodyPr wrap="square" lIns="0" tIns="0" rIns="0" bIns="0" rtlCol="0" anchor="ctr"/>
          <a:lstStyle/>
          <a:p>
            <a:pPr marL="0" indent="0">
              <a:buNone/>
            </a:pPr>
            <a:r>
              <a:rPr lang="en-US" sz="3000" b="1" dirty="0">
                <a:solidFill>
                  <a:srgbClr val="F5F6FA"/>
                </a:solidFill>
                <a:latin typeface="Cambria" pitchFamily="34" charset="0"/>
                <a:ea typeface="Cambria" pitchFamily="34" charset="-122"/>
                <a:cs typeface="Cambria" pitchFamily="34" charset="-120"/>
              </a:rPr>
              <a:t>The Clinical Bottleneck in Epilepsy Diagnosis</a:t>
            </a:r>
            <a:endParaRPr lang="en-US" sz="3000" dirty="0"/>
          </a:p>
        </p:txBody>
      </p:sp>
      <p:sp>
        <p:nvSpPr>
          <p:cNvPr id="4" name="Shape 2"/>
          <p:cNvSpPr/>
          <p:nvPr/>
        </p:nvSpPr>
        <p:spPr>
          <a:xfrm>
            <a:off x="630936" y="2116836"/>
            <a:ext cx="658368" cy="658368"/>
          </a:xfrm>
          <a:prstGeom prst="ellipse">
            <a:avLst/>
          </a:prstGeom>
          <a:solidFill>
            <a:srgbClr val="8B5CF6"/>
          </a:solidFill>
          <a:ln/>
        </p:spPr>
      </p:sp>
      <p:pic>
        <p:nvPicPr>
          <p:cNvPr id="5" name="Image 0" descr="icon_database.png"/>
          <p:cNvPicPr>
            <a:picLocks noChangeAspect="1"/>
          </p:cNvPicPr>
          <p:nvPr/>
        </p:nvPicPr>
        <p:blipFill>
          <a:blip r:embed="rId3"/>
          <a:stretch>
            <a:fillRect/>
          </a:stretch>
        </p:blipFill>
        <p:spPr>
          <a:xfrm>
            <a:off x="788944" y="2274844"/>
            <a:ext cx="342351" cy="342351"/>
          </a:xfrm>
          <a:prstGeom prst="rect">
            <a:avLst/>
          </a:prstGeom>
        </p:spPr>
      </p:pic>
      <p:sp>
        <p:nvSpPr>
          <p:cNvPr id="6" name="Text 3"/>
          <p:cNvSpPr/>
          <p:nvPr/>
        </p:nvSpPr>
        <p:spPr>
          <a:xfrm>
            <a:off x="1508760" y="1856232"/>
            <a:ext cx="5120640" cy="365760"/>
          </a:xfrm>
          <a:prstGeom prst="rect">
            <a:avLst/>
          </a:prstGeom>
          <a:noFill/>
          <a:ln/>
        </p:spPr>
        <p:txBody>
          <a:bodyPr wrap="square" lIns="0" tIns="0" rIns="0" bIns="0" rtlCol="0" anchor="ctr"/>
          <a:lstStyle/>
          <a:p>
            <a:pPr marL="0" indent="0">
              <a:buNone/>
            </a:pPr>
            <a:r>
              <a:rPr lang="en-US" sz="1700" b="1" dirty="0">
                <a:solidFill>
                  <a:srgbClr val="F5F6FA"/>
                </a:solidFill>
                <a:latin typeface="Calibri" pitchFamily="34" charset="0"/>
                <a:ea typeface="Calibri" pitchFamily="34" charset="-122"/>
                <a:cs typeface="Calibri" pitchFamily="34" charset="-120"/>
              </a:rPr>
              <a:t>Data Overload</a:t>
            </a:r>
            <a:endParaRPr lang="en-US" sz="1700" dirty="0"/>
          </a:p>
        </p:txBody>
      </p:sp>
      <p:sp>
        <p:nvSpPr>
          <p:cNvPr id="7" name="Text 4"/>
          <p:cNvSpPr/>
          <p:nvPr/>
        </p:nvSpPr>
        <p:spPr>
          <a:xfrm>
            <a:off x="1508760" y="2221992"/>
            <a:ext cx="5166360" cy="868680"/>
          </a:xfrm>
          <a:prstGeom prst="rect">
            <a:avLst/>
          </a:prstGeom>
          <a:noFill/>
          <a:ln/>
        </p:spPr>
        <p:txBody>
          <a:bodyPr wrap="square" lIns="0" tIns="0" rIns="0" bIns="0" rtlCol="0" anchor="t"/>
          <a:lstStyle/>
          <a:p>
            <a:pPr marL="0" indent="0">
              <a:lnSpc>
                <a:spcPct val="115000"/>
              </a:lnSpc>
              <a:buNone/>
            </a:pPr>
            <a:r>
              <a:rPr lang="en-US" sz="1250" dirty="0">
                <a:solidFill>
                  <a:srgbClr val="9AA3B5"/>
                </a:solidFill>
                <a:latin typeface="Calibri" pitchFamily="34" charset="0"/>
                <a:ea typeface="Calibri" pitchFamily="34" charset="-122"/>
                <a:cs typeface="Calibri" pitchFamily="34" charset="-120"/>
              </a:rPr>
              <a:t>Continuous EEG monitoring generates massive, multi-hour files containing millions of raw data points per patient.</a:t>
            </a:r>
            <a:endParaRPr lang="en-US" sz="1250" dirty="0"/>
          </a:p>
        </p:txBody>
      </p:sp>
      <p:sp>
        <p:nvSpPr>
          <p:cNvPr id="8" name="Shape 5"/>
          <p:cNvSpPr/>
          <p:nvPr/>
        </p:nvSpPr>
        <p:spPr>
          <a:xfrm>
            <a:off x="630936" y="3534156"/>
            <a:ext cx="658368" cy="658368"/>
          </a:xfrm>
          <a:prstGeom prst="ellipse">
            <a:avLst/>
          </a:prstGeom>
          <a:solidFill>
            <a:srgbClr val="6D28D9"/>
          </a:solidFill>
          <a:ln/>
        </p:spPr>
      </p:sp>
      <p:pic>
        <p:nvPicPr>
          <p:cNvPr id="9" name="Image 1" descr="icon_doctor_monitor.png"/>
          <p:cNvPicPr>
            <a:picLocks noChangeAspect="1"/>
          </p:cNvPicPr>
          <p:nvPr/>
        </p:nvPicPr>
        <p:blipFill>
          <a:blip r:embed="rId4"/>
          <a:stretch>
            <a:fillRect/>
          </a:stretch>
        </p:blipFill>
        <p:spPr>
          <a:xfrm>
            <a:off x="788944" y="3692164"/>
            <a:ext cx="342351" cy="342351"/>
          </a:xfrm>
          <a:prstGeom prst="rect">
            <a:avLst/>
          </a:prstGeom>
        </p:spPr>
      </p:pic>
      <p:sp>
        <p:nvSpPr>
          <p:cNvPr id="10" name="Text 6"/>
          <p:cNvSpPr/>
          <p:nvPr/>
        </p:nvSpPr>
        <p:spPr>
          <a:xfrm>
            <a:off x="1508760" y="3273552"/>
            <a:ext cx="5120640" cy="365760"/>
          </a:xfrm>
          <a:prstGeom prst="rect">
            <a:avLst/>
          </a:prstGeom>
          <a:noFill/>
          <a:ln/>
        </p:spPr>
        <p:txBody>
          <a:bodyPr wrap="square" lIns="0" tIns="0" rIns="0" bIns="0" rtlCol="0" anchor="ctr"/>
          <a:lstStyle/>
          <a:p>
            <a:pPr marL="0" indent="0">
              <a:buNone/>
            </a:pPr>
            <a:r>
              <a:rPr lang="en-US" sz="1700" b="1" dirty="0">
                <a:solidFill>
                  <a:srgbClr val="F5F6FA"/>
                </a:solidFill>
                <a:latin typeface="Calibri" pitchFamily="34" charset="0"/>
                <a:ea typeface="Calibri" pitchFamily="34" charset="-122"/>
                <a:cs typeface="Calibri" pitchFamily="34" charset="-120"/>
              </a:rPr>
              <a:t>Physician Fatigue</a:t>
            </a:r>
            <a:endParaRPr lang="en-US" sz="1700" dirty="0"/>
          </a:p>
        </p:txBody>
      </p:sp>
      <p:sp>
        <p:nvSpPr>
          <p:cNvPr id="11" name="Text 7"/>
          <p:cNvSpPr/>
          <p:nvPr/>
        </p:nvSpPr>
        <p:spPr>
          <a:xfrm>
            <a:off x="1508760" y="3639312"/>
            <a:ext cx="5166360" cy="868680"/>
          </a:xfrm>
          <a:prstGeom prst="rect">
            <a:avLst/>
          </a:prstGeom>
          <a:noFill/>
          <a:ln/>
        </p:spPr>
        <p:txBody>
          <a:bodyPr wrap="square" lIns="0" tIns="0" rIns="0" bIns="0" rtlCol="0" anchor="t"/>
          <a:lstStyle/>
          <a:p>
            <a:pPr marL="0" indent="0">
              <a:lnSpc>
                <a:spcPct val="115000"/>
              </a:lnSpc>
              <a:buNone/>
            </a:pPr>
            <a:r>
              <a:rPr lang="en-US" sz="1250" dirty="0">
                <a:solidFill>
                  <a:srgbClr val="9AA3B5"/>
                </a:solidFill>
                <a:latin typeface="Calibri" pitchFamily="34" charset="0"/>
                <a:ea typeface="Calibri" pitchFamily="34" charset="-122"/>
                <a:cs typeface="Calibri" pitchFamily="34" charset="-120"/>
              </a:rPr>
              <a:t>Neurologists suffer severe diagnostic fatigue manually scrolling to locate brief 5-10 second seizure events.</a:t>
            </a:r>
            <a:endParaRPr lang="en-US" sz="1250" dirty="0"/>
          </a:p>
        </p:txBody>
      </p:sp>
      <p:sp>
        <p:nvSpPr>
          <p:cNvPr id="12" name="Shape 8"/>
          <p:cNvSpPr/>
          <p:nvPr/>
        </p:nvSpPr>
        <p:spPr>
          <a:xfrm>
            <a:off x="630936" y="4951476"/>
            <a:ext cx="658368" cy="658368"/>
          </a:xfrm>
          <a:prstGeom prst="ellipse">
            <a:avLst/>
          </a:prstGeom>
          <a:solidFill>
            <a:srgbClr val="EF4444"/>
          </a:solidFill>
          <a:ln/>
        </p:spPr>
      </p:sp>
      <p:pic>
        <p:nvPicPr>
          <p:cNvPr id="13" name="Image 2" descr="icon_triangleExclaim.png"/>
          <p:cNvPicPr>
            <a:picLocks noChangeAspect="1"/>
          </p:cNvPicPr>
          <p:nvPr/>
        </p:nvPicPr>
        <p:blipFill>
          <a:blip r:embed="rId5"/>
          <a:stretch>
            <a:fillRect/>
          </a:stretch>
        </p:blipFill>
        <p:spPr>
          <a:xfrm>
            <a:off x="788944" y="5109484"/>
            <a:ext cx="342351" cy="342351"/>
          </a:xfrm>
          <a:prstGeom prst="rect">
            <a:avLst/>
          </a:prstGeom>
        </p:spPr>
      </p:pic>
      <p:sp>
        <p:nvSpPr>
          <p:cNvPr id="14" name="Text 9"/>
          <p:cNvSpPr/>
          <p:nvPr/>
        </p:nvSpPr>
        <p:spPr>
          <a:xfrm>
            <a:off x="1508760" y="4690872"/>
            <a:ext cx="5120640" cy="365760"/>
          </a:xfrm>
          <a:prstGeom prst="rect">
            <a:avLst/>
          </a:prstGeom>
          <a:noFill/>
          <a:ln/>
        </p:spPr>
        <p:txBody>
          <a:bodyPr wrap="square" lIns="0" tIns="0" rIns="0" bIns="0" rtlCol="0" anchor="ctr"/>
          <a:lstStyle/>
          <a:p>
            <a:pPr marL="0" indent="0">
              <a:buNone/>
            </a:pPr>
            <a:r>
              <a:rPr lang="en-US" sz="1700" b="1" dirty="0">
                <a:solidFill>
                  <a:srgbClr val="F5F6FA"/>
                </a:solidFill>
                <a:latin typeface="Calibri" pitchFamily="34" charset="0"/>
                <a:ea typeface="Calibri" pitchFamily="34" charset="-122"/>
                <a:cs typeface="Calibri" pitchFamily="34" charset="-120"/>
              </a:rPr>
              <a:t>The Risk</a:t>
            </a:r>
            <a:endParaRPr lang="en-US" sz="1700" dirty="0"/>
          </a:p>
        </p:txBody>
      </p:sp>
      <p:sp>
        <p:nvSpPr>
          <p:cNvPr id="15" name="Text 10"/>
          <p:cNvSpPr/>
          <p:nvPr/>
        </p:nvSpPr>
        <p:spPr>
          <a:xfrm>
            <a:off x="1508760" y="5056632"/>
            <a:ext cx="5166360" cy="868680"/>
          </a:xfrm>
          <a:prstGeom prst="rect">
            <a:avLst/>
          </a:prstGeom>
          <a:noFill/>
          <a:ln/>
        </p:spPr>
        <p:txBody>
          <a:bodyPr wrap="square" lIns="0" tIns="0" rIns="0" bIns="0" rtlCol="0" anchor="t"/>
          <a:lstStyle/>
          <a:p>
            <a:pPr marL="0" indent="0">
              <a:lnSpc>
                <a:spcPct val="115000"/>
              </a:lnSpc>
              <a:buNone/>
            </a:pPr>
            <a:r>
              <a:rPr lang="en-US" sz="1250" dirty="0">
                <a:solidFill>
                  <a:srgbClr val="9AA3B5"/>
                </a:solidFill>
                <a:latin typeface="Calibri" pitchFamily="34" charset="0"/>
                <a:ea typeface="Calibri" pitchFamily="34" charset="-122"/>
                <a:cs typeface="Calibri" pitchFamily="34" charset="-120"/>
              </a:rPr>
              <a:t>This manual workflow creates a dangerous bottleneck, increasing human error and delaying emergency triage.</a:t>
            </a:r>
            <a:endParaRPr lang="en-US" sz="1250" dirty="0"/>
          </a:p>
        </p:txBody>
      </p:sp>
      <p:sp>
        <p:nvSpPr>
          <p:cNvPr id="16" name="Shape 11"/>
          <p:cNvSpPr/>
          <p:nvPr/>
        </p:nvSpPr>
        <p:spPr>
          <a:xfrm>
            <a:off x="7086600" y="1417320"/>
            <a:ext cx="4572000" cy="4937760"/>
          </a:xfrm>
          <a:prstGeom prst="roundRect">
            <a:avLst>
              <a:gd name="adj" fmla="val 3000"/>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17" name="Text 12"/>
          <p:cNvSpPr/>
          <p:nvPr/>
        </p:nvSpPr>
        <p:spPr>
          <a:xfrm>
            <a:off x="7086600" y="1673352"/>
            <a:ext cx="4572000" cy="274320"/>
          </a:xfrm>
          <a:prstGeom prst="rect">
            <a:avLst/>
          </a:prstGeom>
          <a:noFill/>
          <a:ln/>
        </p:spPr>
        <p:txBody>
          <a:bodyPr wrap="square" lIns="0" tIns="0" rIns="0" bIns="0" rtlCol="0" anchor="ctr"/>
          <a:lstStyle/>
          <a:p>
            <a:pPr marL="0" indent="0" algn="ctr">
              <a:buNone/>
            </a:pPr>
            <a:r>
              <a:rPr lang="en-US" sz="1100" b="1" kern="0" spc="150" dirty="0">
                <a:solidFill>
                  <a:srgbClr val="9AA3B5"/>
                </a:solidFill>
                <a:latin typeface="Calibri" pitchFamily="34" charset="0"/>
                <a:ea typeface="Calibri" pitchFamily="34" charset="-122"/>
                <a:cs typeface="Calibri" pitchFamily="34" charset="-120"/>
              </a:rPr>
              <a:t>RAW MULTI-CHANNEL EEG SIGNAL</a:t>
            </a:r>
            <a:endParaRPr lang="en-US" sz="1100" dirty="0"/>
          </a:p>
        </p:txBody>
      </p:sp>
      <p:pic>
        <p:nvPicPr>
          <p:cNvPr id="18" name="Image 3" descr="messy_eeg.png"/>
          <p:cNvPicPr>
            <a:picLocks noChangeAspect="1"/>
          </p:cNvPicPr>
          <p:nvPr/>
        </p:nvPicPr>
        <p:blipFill>
          <a:blip r:embed="rId6"/>
          <a:stretch>
            <a:fillRect/>
          </a:stretch>
        </p:blipFill>
        <p:spPr>
          <a:xfrm>
            <a:off x="7498080" y="2103120"/>
            <a:ext cx="3749040" cy="3061716"/>
          </a:xfrm>
          <a:prstGeom prst="rect">
            <a:avLst/>
          </a:prstGeom>
        </p:spPr>
      </p:pic>
      <p:sp>
        <p:nvSpPr>
          <p:cNvPr id="19" name="Text 13"/>
          <p:cNvSpPr/>
          <p:nvPr/>
        </p:nvSpPr>
        <p:spPr>
          <a:xfrm>
            <a:off x="7406640" y="5486400"/>
            <a:ext cx="3931920" cy="685800"/>
          </a:xfrm>
          <a:prstGeom prst="rect">
            <a:avLst/>
          </a:prstGeom>
          <a:noFill/>
          <a:ln/>
        </p:spPr>
        <p:txBody>
          <a:bodyPr wrap="square" lIns="0" tIns="0" rIns="0" bIns="0" rtlCol="0" anchor="ctr"/>
          <a:lstStyle/>
          <a:p>
            <a:pPr marL="0" indent="0" algn="ctr">
              <a:lnSpc>
                <a:spcPct val="115000"/>
              </a:lnSpc>
              <a:buNone/>
            </a:pPr>
            <a:r>
              <a:rPr lang="en-US" sz="1050" i="1" dirty="0">
                <a:solidFill>
                  <a:srgbClr val="9AA3B5"/>
                </a:solidFill>
                <a:latin typeface="Calibri" pitchFamily="34" charset="0"/>
                <a:ea typeface="Calibri" pitchFamily="34" charset="-122"/>
                <a:cs typeface="Calibri" pitchFamily="34" charset="-120"/>
              </a:rPr>
              <a:t>10 simultaneous channels — a seizure hides in seconds of signal like this, buried across hours of recording.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Calibri" pitchFamily="34" charset="0"/>
                <a:ea typeface="Calibri" pitchFamily="34" charset="-122"/>
                <a:cs typeface="Calibri" pitchFamily="34" charset="-120"/>
              </a:rPr>
              <a:t>OVERALL SOLUTION APPROACH</a:t>
            </a:r>
            <a:endParaRPr lang="en-US" sz="1200" dirty="0"/>
          </a:p>
        </p:txBody>
      </p:sp>
      <p:sp>
        <p:nvSpPr>
          <p:cNvPr id="3" name="Text 1"/>
          <p:cNvSpPr/>
          <p:nvPr/>
        </p:nvSpPr>
        <p:spPr>
          <a:xfrm>
            <a:off x="548640" y="676656"/>
            <a:ext cx="10789920" cy="777240"/>
          </a:xfrm>
          <a:prstGeom prst="rect">
            <a:avLst/>
          </a:prstGeom>
          <a:noFill/>
          <a:ln/>
        </p:spPr>
        <p:txBody>
          <a:bodyPr wrap="square" lIns="0" tIns="0" rIns="0" bIns="0" rtlCol="0" anchor="ctr"/>
          <a:lstStyle/>
          <a:p>
            <a:pPr marL="0" indent="0">
              <a:buNone/>
            </a:pPr>
            <a:r>
              <a:rPr lang="en-US" sz="3000" b="1" dirty="0">
                <a:solidFill>
                  <a:srgbClr val="F5F6FA"/>
                </a:solidFill>
                <a:latin typeface="Cambria" pitchFamily="34" charset="0"/>
                <a:ea typeface="Cambria" pitchFamily="34" charset="-122"/>
                <a:cs typeface="Cambria" pitchFamily="34" charset="-120"/>
              </a:rPr>
              <a:t>Signal Processing &amp; Data Engineering</a:t>
            </a:r>
            <a:endParaRPr lang="en-US" sz="3000" dirty="0"/>
          </a:p>
        </p:txBody>
      </p:sp>
      <p:sp>
        <p:nvSpPr>
          <p:cNvPr id="4" name="Shape 2"/>
          <p:cNvSpPr/>
          <p:nvPr/>
        </p:nvSpPr>
        <p:spPr>
          <a:xfrm>
            <a:off x="585216" y="1700784"/>
            <a:ext cx="566928" cy="566928"/>
          </a:xfrm>
          <a:prstGeom prst="ellipse">
            <a:avLst/>
          </a:prstGeom>
          <a:solidFill>
            <a:srgbClr val="8B5CF6"/>
          </a:solidFill>
          <a:ln/>
        </p:spPr>
      </p:sp>
      <p:pic>
        <p:nvPicPr>
          <p:cNvPr id="5" name="Image 0" descr="icon_database.png"/>
          <p:cNvPicPr>
            <a:picLocks noChangeAspect="1"/>
          </p:cNvPicPr>
          <p:nvPr/>
        </p:nvPicPr>
        <p:blipFill>
          <a:blip r:embed="rId3"/>
          <a:stretch>
            <a:fillRect/>
          </a:stretch>
        </p:blipFill>
        <p:spPr>
          <a:xfrm>
            <a:off x="721279" y="1836847"/>
            <a:ext cx="294803" cy="294803"/>
          </a:xfrm>
          <a:prstGeom prst="rect">
            <a:avLst/>
          </a:prstGeom>
        </p:spPr>
      </p:pic>
      <p:sp>
        <p:nvSpPr>
          <p:cNvPr id="6" name="Text 3"/>
          <p:cNvSpPr/>
          <p:nvPr/>
        </p:nvSpPr>
        <p:spPr>
          <a:xfrm>
            <a:off x="1325880" y="1691640"/>
            <a:ext cx="4434840" cy="320040"/>
          </a:xfrm>
          <a:prstGeom prst="rect">
            <a:avLst/>
          </a:prstGeom>
          <a:noFill/>
          <a:ln/>
        </p:spPr>
        <p:txBody>
          <a:bodyPr wrap="square" lIns="0" tIns="0" rIns="0" bIns="0" rtlCol="0" anchor="ctr"/>
          <a:lstStyle/>
          <a:p>
            <a:pPr marL="0" indent="0">
              <a:buNone/>
            </a:pPr>
            <a:r>
              <a:rPr lang="en-US" sz="1500" b="1" dirty="0">
                <a:solidFill>
                  <a:srgbClr val="F5F6FA"/>
                </a:solidFill>
                <a:latin typeface="Calibri" pitchFamily="34" charset="0"/>
                <a:ea typeface="Calibri" pitchFamily="34" charset="-122"/>
                <a:cs typeface="Calibri" pitchFamily="34" charset="-120"/>
              </a:rPr>
              <a:t>The Dataset</a:t>
            </a:r>
            <a:endParaRPr lang="en-US" sz="1500" dirty="0"/>
          </a:p>
        </p:txBody>
      </p:sp>
      <p:sp>
        <p:nvSpPr>
          <p:cNvPr id="7" name="Text 4"/>
          <p:cNvSpPr/>
          <p:nvPr/>
        </p:nvSpPr>
        <p:spPr>
          <a:xfrm>
            <a:off x="1325880" y="2011680"/>
            <a:ext cx="4480560" cy="777240"/>
          </a:xfrm>
          <a:prstGeom prst="rect">
            <a:avLst/>
          </a:prstGeom>
          <a:noFill/>
          <a:ln/>
        </p:spPr>
        <p:txBody>
          <a:bodyPr wrap="square" lIns="0" tIns="0" rIns="0" bIns="0" rtlCol="0" anchor="t"/>
          <a:lstStyle/>
          <a:p>
            <a:pPr marL="0" indent="0">
              <a:lnSpc>
                <a:spcPct val="112000"/>
              </a:lnSpc>
              <a:buNone/>
            </a:pPr>
            <a:r>
              <a:rPr lang="en-US" sz="1150" dirty="0">
                <a:solidFill>
                  <a:srgbClr val="9AA3B5"/>
                </a:solidFill>
                <a:latin typeface="Calibri" pitchFamily="34" charset="0"/>
                <a:ea typeface="Calibri" pitchFamily="34" charset="-122"/>
                <a:cs typeface="Calibri" pitchFamily="34" charset="-120"/>
              </a:rPr>
              <a:t>Processed clinical 178 Hz continuous EEG data from the University of Bonn.</a:t>
            </a:r>
            <a:endParaRPr lang="en-US" sz="1150" dirty="0"/>
          </a:p>
        </p:txBody>
      </p:sp>
      <p:sp>
        <p:nvSpPr>
          <p:cNvPr id="8" name="Shape 5"/>
          <p:cNvSpPr/>
          <p:nvPr/>
        </p:nvSpPr>
        <p:spPr>
          <a:xfrm>
            <a:off x="585216" y="2871216"/>
            <a:ext cx="566928" cy="566928"/>
          </a:xfrm>
          <a:prstGeom prst="ellipse">
            <a:avLst/>
          </a:prstGeom>
          <a:solidFill>
            <a:srgbClr val="8B5CF6"/>
          </a:solidFill>
          <a:ln/>
        </p:spPr>
      </p:sp>
      <p:pic>
        <p:nvPicPr>
          <p:cNvPr id="9" name="Image 1" descr="icon_target.png"/>
          <p:cNvPicPr>
            <a:picLocks noChangeAspect="1"/>
          </p:cNvPicPr>
          <p:nvPr/>
        </p:nvPicPr>
        <p:blipFill>
          <a:blip r:embed="rId4"/>
          <a:stretch>
            <a:fillRect/>
          </a:stretch>
        </p:blipFill>
        <p:spPr>
          <a:xfrm>
            <a:off x="721279" y="3007279"/>
            <a:ext cx="294803" cy="294803"/>
          </a:xfrm>
          <a:prstGeom prst="rect">
            <a:avLst/>
          </a:prstGeom>
        </p:spPr>
      </p:pic>
      <p:sp>
        <p:nvSpPr>
          <p:cNvPr id="10" name="Text 6"/>
          <p:cNvSpPr/>
          <p:nvPr/>
        </p:nvSpPr>
        <p:spPr>
          <a:xfrm>
            <a:off x="1325880" y="2862072"/>
            <a:ext cx="4434840" cy="320040"/>
          </a:xfrm>
          <a:prstGeom prst="rect">
            <a:avLst/>
          </a:prstGeom>
          <a:noFill/>
          <a:ln/>
        </p:spPr>
        <p:txBody>
          <a:bodyPr wrap="square" lIns="0" tIns="0" rIns="0" bIns="0" rtlCol="0" anchor="ctr"/>
          <a:lstStyle/>
          <a:p>
            <a:pPr marL="0" indent="0">
              <a:buNone/>
            </a:pPr>
            <a:r>
              <a:rPr lang="en-US" sz="1500" b="1" dirty="0">
                <a:solidFill>
                  <a:srgbClr val="F5F6FA"/>
                </a:solidFill>
                <a:latin typeface="Calibri" pitchFamily="34" charset="0"/>
                <a:ea typeface="Calibri" pitchFamily="34" charset="-122"/>
                <a:cs typeface="Calibri" pitchFamily="34" charset="-120"/>
              </a:rPr>
              <a:t>Target Engineering</a:t>
            </a:r>
            <a:endParaRPr lang="en-US" sz="1500" dirty="0"/>
          </a:p>
        </p:txBody>
      </p:sp>
      <p:sp>
        <p:nvSpPr>
          <p:cNvPr id="11" name="Text 7"/>
          <p:cNvSpPr/>
          <p:nvPr/>
        </p:nvSpPr>
        <p:spPr>
          <a:xfrm>
            <a:off x="1325880" y="3182112"/>
            <a:ext cx="4480560" cy="777240"/>
          </a:xfrm>
          <a:prstGeom prst="rect">
            <a:avLst/>
          </a:prstGeom>
          <a:noFill/>
          <a:ln/>
        </p:spPr>
        <p:txBody>
          <a:bodyPr wrap="square" lIns="0" tIns="0" rIns="0" bIns="0" rtlCol="0" anchor="t"/>
          <a:lstStyle/>
          <a:p>
            <a:pPr marL="0" indent="0">
              <a:lnSpc>
                <a:spcPct val="112000"/>
              </a:lnSpc>
              <a:buNone/>
            </a:pPr>
            <a:r>
              <a:rPr lang="en-US" sz="1150" dirty="0">
                <a:solidFill>
                  <a:srgbClr val="9AA3B5"/>
                </a:solidFill>
                <a:latin typeface="Calibri" pitchFamily="34" charset="0"/>
                <a:ea typeface="Calibri" pitchFamily="34" charset="-122"/>
                <a:cs typeface="Calibri" pitchFamily="34" charset="-120"/>
              </a:rPr>
              <a:t>Converted the original 5 clinical classes into a strict binary target: Seizure (1) vs. Non-Seizure (0).</a:t>
            </a:r>
            <a:endParaRPr lang="en-US" sz="1150" dirty="0"/>
          </a:p>
        </p:txBody>
      </p:sp>
      <p:sp>
        <p:nvSpPr>
          <p:cNvPr id="12" name="Shape 8"/>
          <p:cNvSpPr/>
          <p:nvPr/>
        </p:nvSpPr>
        <p:spPr>
          <a:xfrm>
            <a:off x="585216" y="4041648"/>
            <a:ext cx="566928" cy="566928"/>
          </a:xfrm>
          <a:prstGeom prst="ellipse">
            <a:avLst/>
          </a:prstGeom>
          <a:solidFill>
            <a:srgbClr val="EF4444"/>
          </a:solidFill>
          <a:ln/>
        </p:spPr>
      </p:sp>
      <p:pic>
        <p:nvPicPr>
          <p:cNvPr id="13" name="Image 2" descr="icon_balance.png"/>
          <p:cNvPicPr>
            <a:picLocks noChangeAspect="1"/>
          </p:cNvPicPr>
          <p:nvPr/>
        </p:nvPicPr>
        <p:blipFill>
          <a:blip r:embed="rId5"/>
          <a:stretch>
            <a:fillRect/>
          </a:stretch>
        </p:blipFill>
        <p:spPr>
          <a:xfrm>
            <a:off x="721279" y="4177711"/>
            <a:ext cx="294803" cy="294803"/>
          </a:xfrm>
          <a:prstGeom prst="rect">
            <a:avLst/>
          </a:prstGeom>
        </p:spPr>
      </p:pic>
      <p:sp>
        <p:nvSpPr>
          <p:cNvPr id="14" name="Text 9"/>
          <p:cNvSpPr/>
          <p:nvPr/>
        </p:nvSpPr>
        <p:spPr>
          <a:xfrm>
            <a:off x="1325880" y="4032504"/>
            <a:ext cx="4434840" cy="320040"/>
          </a:xfrm>
          <a:prstGeom prst="rect">
            <a:avLst/>
          </a:prstGeom>
          <a:noFill/>
          <a:ln/>
        </p:spPr>
        <p:txBody>
          <a:bodyPr wrap="square" lIns="0" tIns="0" rIns="0" bIns="0" rtlCol="0" anchor="ctr"/>
          <a:lstStyle/>
          <a:p>
            <a:pPr marL="0" indent="0">
              <a:buNone/>
            </a:pPr>
            <a:r>
              <a:rPr lang="en-US" sz="1500" b="1" dirty="0">
                <a:solidFill>
                  <a:srgbClr val="F5F6FA"/>
                </a:solidFill>
                <a:latin typeface="Calibri" pitchFamily="34" charset="0"/>
                <a:ea typeface="Calibri" pitchFamily="34" charset="-122"/>
                <a:cs typeface="Calibri" pitchFamily="34" charset="-120"/>
              </a:rPr>
              <a:t>Addressing the Bias</a:t>
            </a:r>
            <a:endParaRPr lang="en-US" sz="1500" dirty="0"/>
          </a:p>
        </p:txBody>
      </p:sp>
      <p:sp>
        <p:nvSpPr>
          <p:cNvPr id="15" name="Text 10"/>
          <p:cNvSpPr/>
          <p:nvPr/>
        </p:nvSpPr>
        <p:spPr>
          <a:xfrm>
            <a:off x="1325880" y="4352544"/>
            <a:ext cx="4480560" cy="777240"/>
          </a:xfrm>
          <a:prstGeom prst="rect">
            <a:avLst/>
          </a:prstGeom>
          <a:noFill/>
          <a:ln/>
        </p:spPr>
        <p:txBody>
          <a:bodyPr wrap="square" lIns="0" tIns="0" rIns="0" bIns="0" rtlCol="0" anchor="t"/>
          <a:lstStyle/>
          <a:p>
            <a:pPr marL="0" indent="0">
              <a:lnSpc>
                <a:spcPct val="112000"/>
              </a:lnSpc>
              <a:buNone/>
            </a:pPr>
            <a:r>
              <a:rPr lang="en-US" sz="1150" dirty="0">
                <a:solidFill>
                  <a:srgbClr val="9AA3B5"/>
                </a:solidFill>
                <a:latin typeface="Calibri" pitchFamily="34" charset="0"/>
                <a:ea typeface="Calibri" pitchFamily="34" charset="-122"/>
                <a:cs typeface="Calibri" pitchFamily="34" charset="-120"/>
              </a:rPr>
              <a:t>Binarization created a severe 80:20 class imbalance between the two target classes.</a:t>
            </a:r>
            <a:endParaRPr lang="en-US" sz="1150" dirty="0"/>
          </a:p>
        </p:txBody>
      </p:sp>
      <p:sp>
        <p:nvSpPr>
          <p:cNvPr id="16" name="Shape 11"/>
          <p:cNvSpPr/>
          <p:nvPr/>
        </p:nvSpPr>
        <p:spPr>
          <a:xfrm>
            <a:off x="585216" y="5212080"/>
            <a:ext cx="566928" cy="566928"/>
          </a:xfrm>
          <a:prstGeom prst="ellipse">
            <a:avLst/>
          </a:prstGeom>
          <a:solidFill>
            <a:srgbClr val="22C55E"/>
          </a:solidFill>
          <a:ln/>
        </p:spPr>
      </p:sp>
      <p:pic>
        <p:nvPicPr>
          <p:cNvPr id="17" name="Image 3" descr="icon_filter.png"/>
          <p:cNvPicPr>
            <a:picLocks noChangeAspect="1"/>
          </p:cNvPicPr>
          <p:nvPr/>
        </p:nvPicPr>
        <p:blipFill>
          <a:blip r:embed="rId6"/>
          <a:stretch>
            <a:fillRect/>
          </a:stretch>
        </p:blipFill>
        <p:spPr>
          <a:xfrm>
            <a:off x="721279" y="5348143"/>
            <a:ext cx="294803" cy="294803"/>
          </a:xfrm>
          <a:prstGeom prst="rect">
            <a:avLst/>
          </a:prstGeom>
        </p:spPr>
      </p:pic>
      <p:sp>
        <p:nvSpPr>
          <p:cNvPr id="18" name="Text 12"/>
          <p:cNvSpPr/>
          <p:nvPr/>
        </p:nvSpPr>
        <p:spPr>
          <a:xfrm>
            <a:off x="1325880" y="5202936"/>
            <a:ext cx="4434840" cy="320040"/>
          </a:xfrm>
          <a:prstGeom prst="rect">
            <a:avLst/>
          </a:prstGeom>
          <a:noFill/>
          <a:ln/>
        </p:spPr>
        <p:txBody>
          <a:bodyPr wrap="square" lIns="0" tIns="0" rIns="0" bIns="0" rtlCol="0" anchor="ctr"/>
          <a:lstStyle/>
          <a:p>
            <a:pPr marL="0" indent="0">
              <a:buNone/>
            </a:pPr>
            <a:r>
              <a:rPr lang="en-US" sz="1500" b="1" dirty="0">
                <a:solidFill>
                  <a:srgbClr val="F5F6FA"/>
                </a:solidFill>
                <a:latin typeface="Calibri" pitchFamily="34" charset="0"/>
                <a:ea typeface="Calibri" pitchFamily="34" charset="-122"/>
                <a:cs typeface="Calibri" pitchFamily="34" charset="-120"/>
              </a:rPr>
              <a:t>SMOTE Application</a:t>
            </a:r>
            <a:endParaRPr lang="en-US" sz="1500" dirty="0"/>
          </a:p>
        </p:txBody>
      </p:sp>
      <p:sp>
        <p:nvSpPr>
          <p:cNvPr id="19" name="Text 13"/>
          <p:cNvSpPr/>
          <p:nvPr/>
        </p:nvSpPr>
        <p:spPr>
          <a:xfrm>
            <a:off x="1325880" y="5522976"/>
            <a:ext cx="4480560" cy="777240"/>
          </a:xfrm>
          <a:prstGeom prst="rect">
            <a:avLst/>
          </a:prstGeom>
          <a:noFill/>
          <a:ln/>
        </p:spPr>
        <p:txBody>
          <a:bodyPr wrap="square" lIns="0" tIns="0" rIns="0" bIns="0" rtlCol="0" anchor="t"/>
          <a:lstStyle/>
          <a:p>
            <a:pPr marL="0" indent="0">
              <a:lnSpc>
                <a:spcPct val="112000"/>
              </a:lnSpc>
              <a:buNone/>
            </a:pPr>
            <a:r>
              <a:rPr lang="en-US" sz="1150" dirty="0">
                <a:solidFill>
                  <a:srgbClr val="9AA3B5"/>
                </a:solidFill>
                <a:latin typeface="Calibri" pitchFamily="34" charset="0"/>
                <a:ea typeface="Calibri" pitchFamily="34" charset="-122"/>
                <a:cs typeface="Calibri" pitchFamily="34" charset="-120"/>
              </a:rPr>
              <a:t>Applied Synthetic Minority Over-sampling Technique (SMOTE) to establish a perfect 50:50 training ratio, preventing majority-class bias.</a:t>
            </a:r>
            <a:endParaRPr lang="en-US" sz="1150" dirty="0"/>
          </a:p>
        </p:txBody>
      </p:sp>
      <p:sp>
        <p:nvSpPr>
          <p:cNvPr id="20" name="Text 14"/>
          <p:cNvSpPr/>
          <p:nvPr/>
        </p:nvSpPr>
        <p:spPr>
          <a:xfrm>
            <a:off x="6172200" y="1417320"/>
            <a:ext cx="5486400" cy="274320"/>
          </a:xfrm>
          <a:prstGeom prst="rect">
            <a:avLst/>
          </a:prstGeom>
          <a:noFill/>
          <a:ln/>
        </p:spPr>
        <p:txBody>
          <a:bodyPr wrap="square" lIns="0" tIns="0" rIns="0" bIns="0" rtlCol="0" anchor="ctr"/>
          <a:lstStyle/>
          <a:p>
            <a:pPr marL="0" indent="0">
              <a:buNone/>
            </a:pPr>
            <a:r>
              <a:rPr lang="en-US" sz="1100" b="1" kern="0" spc="100" dirty="0">
                <a:solidFill>
                  <a:srgbClr val="EF4444"/>
                </a:solidFill>
                <a:latin typeface="Calibri" pitchFamily="34" charset="0"/>
                <a:ea typeface="Calibri" pitchFamily="34" charset="-122"/>
                <a:cs typeface="Calibri" pitchFamily="34" charset="-120"/>
              </a:rPr>
              <a:t>BEFORE — IMBALANCED (80:20)</a:t>
            </a:r>
            <a:endParaRPr lang="en-US" sz="1100" dirty="0"/>
          </a:p>
        </p:txBody>
      </p:sp>
      <p:sp>
        <p:nvSpPr>
          <p:cNvPr id="21" name="Shape 15"/>
          <p:cNvSpPr/>
          <p:nvPr/>
        </p:nvSpPr>
        <p:spPr>
          <a:xfrm>
            <a:off x="6172200" y="1691640"/>
            <a:ext cx="5486400" cy="1828800"/>
          </a:xfrm>
          <a:prstGeom prst="roundRect">
            <a:avLst>
              <a:gd name="adj" fmla="val 5000"/>
            </a:avLst>
          </a:prstGeom>
          <a:solidFill>
            <a:srgbClr val="FFFFFF"/>
          </a:solidFill>
          <a:ln w="12700">
            <a:solidFill>
              <a:srgbClr val="232B45"/>
            </a:solidFill>
            <a:prstDash val="solid"/>
          </a:ln>
          <a:effectLst>
            <a:outerShdw blurRad="101600" dist="38100" dir="5400000" algn="bl" rotWithShape="0">
              <a:srgbClr val="000000">
                <a:alpha val="35000"/>
              </a:srgbClr>
            </a:outerShdw>
          </a:effectLst>
        </p:spPr>
      </p:sp>
      <p:pic>
        <p:nvPicPr>
          <p:cNvPr id="22" name="Image 4" descr="1785907358644_image.png"/>
          <p:cNvPicPr>
            <a:picLocks noChangeAspect="1"/>
          </p:cNvPicPr>
          <p:nvPr/>
        </p:nvPicPr>
        <p:blipFill>
          <a:blip r:embed="rId7"/>
          <a:stretch>
            <a:fillRect/>
          </a:stretch>
        </p:blipFill>
        <p:spPr>
          <a:xfrm>
            <a:off x="6400800" y="1789443"/>
            <a:ext cx="5029200" cy="1633194"/>
          </a:xfrm>
          <a:prstGeom prst="rect">
            <a:avLst/>
          </a:prstGeom>
        </p:spPr>
      </p:pic>
      <p:pic>
        <p:nvPicPr>
          <p:cNvPr id="24" name="Image 5" descr="icon_arrowRight.png"/>
          <p:cNvPicPr>
            <a:picLocks noChangeAspect="1"/>
          </p:cNvPicPr>
          <p:nvPr/>
        </p:nvPicPr>
        <p:blipFill>
          <a:blip r:embed="rId8"/>
          <a:stretch>
            <a:fillRect/>
          </a:stretch>
        </p:blipFill>
        <p:spPr>
          <a:xfrm>
            <a:off x="7392467" y="3734867"/>
            <a:ext cx="211226" cy="211226"/>
          </a:xfrm>
          <a:prstGeom prst="rect">
            <a:avLst/>
          </a:prstGeom>
        </p:spPr>
      </p:pic>
      <p:sp>
        <p:nvSpPr>
          <p:cNvPr id="25" name="Text 17"/>
          <p:cNvSpPr/>
          <p:nvPr/>
        </p:nvSpPr>
        <p:spPr>
          <a:xfrm>
            <a:off x="7818120" y="3694176"/>
            <a:ext cx="3840480" cy="292608"/>
          </a:xfrm>
          <a:prstGeom prst="rect">
            <a:avLst/>
          </a:prstGeom>
          <a:noFill/>
          <a:ln/>
        </p:spPr>
        <p:txBody>
          <a:bodyPr wrap="square" lIns="0" tIns="0" rIns="0" bIns="0" rtlCol="0" anchor="ctr"/>
          <a:lstStyle/>
          <a:p>
            <a:pPr marL="0" indent="0">
              <a:buNone/>
            </a:pPr>
            <a:endParaRPr lang="en-US" sz="1000" dirty="0"/>
          </a:p>
        </p:txBody>
      </p:sp>
      <p:sp>
        <p:nvSpPr>
          <p:cNvPr id="26" name="Text 18"/>
          <p:cNvSpPr/>
          <p:nvPr/>
        </p:nvSpPr>
        <p:spPr>
          <a:xfrm>
            <a:off x="6172200" y="3931920"/>
            <a:ext cx="5486400" cy="274320"/>
          </a:xfrm>
          <a:prstGeom prst="rect">
            <a:avLst/>
          </a:prstGeom>
          <a:noFill/>
          <a:ln/>
        </p:spPr>
        <p:txBody>
          <a:bodyPr wrap="square" lIns="0" tIns="0" rIns="0" bIns="0" rtlCol="0" anchor="ctr"/>
          <a:lstStyle/>
          <a:p>
            <a:pPr marL="0" indent="0">
              <a:buNone/>
            </a:pPr>
            <a:r>
              <a:rPr lang="en-US" sz="1100" b="1" kern="0" spc="100" dirty="0">
                <a:solidFill>
                  <a:srgbClr val="22C55E"/>
                </a:solidFill>
                <a:latin typeface="Calibri" pitchFamily="34" charset="0"/>
                <a:ea typeface="Calibri" pitchFamily="34" charset="-122"/>
                <a:cs typeface="Calibri" pitchFamily="34" charset="-120"/>
              </a:rPr>
              <a:t>AFTER — SMOTE BALANCED (50:50)</a:t>
            </a:r>
            <a:endParaRPr lang="en-US" sz="1100" dirty="0"/>
          </a:p>
        </p:txBody>
      </p:sp>
      <p:sp>
        <p:nvSpPr>
          <p:cNvPr id="27" name="Shape 19"/>
          <p:cNvSpPr/>
          <p:nvPr/>
        </p:nvSpPr>
        <p:spPr>
          <a:xfrm>
            <a:off x="6172200" y="4224528"/>
            <a:ext cx="5486400" cy="1691640"/>
          </a:xfrm>
          <a:prstGeom prst="roundRect">
            <a:avLst>
              <a:gd name="adj" fmla="val 5405"/>
            </a:avLst>
          </a:prstGeom>
          <a:solidFill>
            <a:srgbClr val="FFFFFF"/>
          </a:solidFill>
          <a:ln w="12700">
            <a:solidFill>
              <a:srgbClr val="232B45"/>
            </a:solidFill>
            <a:prstDash val="solid"/>
          </a:ln>
          <a:effectLst>
            <a:outerShdw blurRad="101600" dist="38100" dir="5400000" algn="bl" rotWithShape="0">
              <a:srgbClr val="000000">
                <a:alpha val="35000"/>
              </a:srgbClr>
            </a:outerShdw>
          </a:effectLst>
        </p:spPr>
      </p:sp>
      <p:pic>
        <p:nvPicPr>
          <p:cNvPr id="28" name="Image 6" descr="1785907751310_image.png"/>
          <p:cNvPicPr>
            <a:picLocks noChangeAspect="1"/>
          </p:cNvPicPr>
          <p:nvPr/>
        </p:nvPicPr>
        <p:blipFill>
          <a:blip r:embed="rId9"/>
          <a:stretch>
            <a:fillRect/>
          </a:stretch>
        </p:blipFill>
        <p:spPr>
          <a:xfrm>
            <a:off x="7726680" y="4442620"/>
            <a:ext cx="2377440" cy="12554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r>
              <a:rPr lang="en-US" sz="1200" b="1" kern="0" spc="200" dirty="0">
                <a:solidFill>
                  <a:srgbClr val="8B5CF6"/>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76656"/>
            <a:ext cx="10789920" cy="777240"/>
          </a:xfrm>
          <a:prstGeom prst="rect">
            <a:avLst/>
          </a:prstGeom>
          <a:noFill/>
          <a:ln/>
        </p:spPr>
        <p:txBody>
          <a:bodyPr wrap="square" lIns="0" tIns="0" rIns="0" bIns="0" rtlCol="0" anchor="ctr"/>
          <a:lstStyle/>
          <a:p>
            <a:r>
              <a:rPr lang="en-US" sz="3000" b="1" dirty="0">
                <a:solidFill>
                  <a:srgbClr val="F5F6FA"/>
                </a:solidFill>
                <a:latin typeface="Cambria" pitchFamily="34" charset="0"/>
                <a:ea typeface="Cambria" pitchFamily="34" charset="-122"/>
                <a:cs typeface="Cambria" pitchFamily="34" charset="-120"/>
              </a:rPr>
              <a:t>Model Evaluation &amp; Prioritizing Clinical Safety</a:t>
            </a:r>
            <a:endParaRPr lang="en-US" sz="3000" dirty="0"/>
          </a:p>
        </p:txBody>
      </p:sp>
      <p:sp>
        <p:nvSpPr>
          <p:cNvPr id="4" name="Shape 2"/>
          <p:cNvSpPr/>
          <p:nvPr/>
        </p:nvSpPr>
        <p:spPr>
          <a:xfrm>
            <a:off x="630936" y="1499616"/>
            <a:ext cx="566928" cy="566928"/>
          </a:xfrm>
          <a:prstGeom prst="ellipse">
            <a:avLst/>
          </a:prstGeom>
          <a:solidFill>
            <a:srgbClr val="EF4444"/>
          </a:solidFill>
          <a:ln/>
        </p:spPr>
      </p:sp>
      <p:pic>
        <p:nvPicPr>
          <p:cNvPr id="5" name="Image 0" descr="icon_triangleExclaim.png"/>
          <p:cNvPicPr>
            <a:picLocks noChangeAspect="1"/>
          </p:cNvPicPr>
          <p:nvPr/>
        </p:nvPicPr>
        <p:blipFill>
          <a:blip r:embed="rId3"/>
          <a:stretch>
            <a:fillRect/>
          </a:stretch>
        </p:blipFill>
        <p:spPr>
          <a:xfrm>
            <a:off x="766999" y="1635679"/>
            <a:ext cx="294803" cy="294803"/>
          </a:xfrm>
          <a:prstGeom prst="rect">
            <a:avLst/>
          </a:prstGeom>
        </p:spPr>
      </p:pic>
      <p:sp>
        <p:nvSpPr>
          <p:cNvPr id="6" name="Text 3"/>
          <p:cNvSpPr/>
          <p:nvPr/>
        </p:nvSpPr>
        <p:spPr>
          <a:xfrm>
            <a:off x="1325880" y="1517904"/>
            <a:ext cx="2697480" cy="548640"/>
          </a:xfrm>
          <a:prstGeom prst="rect">
            <a:avLst/>
          </a:prstGeom>
          <a:noFill/>
          <a:ln/>
        </p:spPr>
        <p:txBody>
          <a:bodyPr wrap="square" lIns="0" tIns="0" rIns="0" bIns="0" rtlCol="0" anchor="ctr"/>
          <a:lstStyle/>
          <a:p>
            <a:r>
              <a:rPr lang="en-US" sz="1600" b="1" dirty="0">
                <a:solidFill>
                  <a:srgbClr val="F5F6FA"/>
                </a:solidFill>
                <a:latin typeface="Calibri" pitchFamily="34" charset="0"/>
                <a:ea typeface="Calibri" pitchFamily="34" charset="-122"/>
                <a:cs typeface="Calibri" pitchFamily="34" charset="-120"/>
              </a:rPr>
              <a:t>Baseline Failure</a:t>
            </a:r>
            <a:endParaRPr lang="en-US" sz="1600" dirty="0"/>
          </a:p>
        </p:txBody>
      </p:sp>
      <p:sp>
        <p:nvSpPr>
          <p:cNvPr id="7" name="Text 4"/>
          <p:cNvSpPr/>
          <p:nvPr/>
        </p:nvSpPr>
        <p:spPr>
          <a:xfrm>
            <a:off x="548640" y="2212848"/>
            <a:ext cx="3520440" cy="868680"/>
          </a:xfrm>
          <a:prstGeom prst="rect">
            <a:avLst/>
          </a:prstGeom>
          <a:noFill/>
          <a:ln/>
        </p:spPr>
        <p:txBody>
          <a:bodyPr wrap="square" lIns="0" tIns="0" rIns="0" bIns="0" rtlCol="0" anchor="t"/>
          <a:lstStyle/>
          <a:p>
            <a:pPr>
              <a:lnSpc>
                <a:spcPct val="115000"/>
              </a:lnSpc>
            </a:pPr>
            <a:r>
              <a:rPr lang="en-US" sz="1200" dirty="0">
                <a:solidFill>
                  <a:srgbClr val="9AA3B5"/>
                </a:solidFill>
                <a:latin typeface="Calibri" pitchFamily="34" charset="0"/>
                <a:ea typeface="Calibri" pitchFamily="34" charset="-122"/>
                <a:cs typeface="Calibri" pitchFamily="34" charset="-120"/>
              </a:rPr>
              <a:t>Pre-SMOTE baseline models completely failed in a clinical setting, missing &gt;90% of actual seizures due to class imbalance.</a:t>
            </a:r>
            <a:endParaRPr lang="en-US" sz="1200" dirty="0"/>
          </a:p>
        </p:txBody>
      </p:sp>
      <p:pic>
        <p:nvPicPr>
          <p:cNvPr id="9" name="Image 1" descr="icon_checkCircle.png"/>
          <p:cNvPicPr>
            <a:picLocks noChangeAspect="1"/>
          </p:cNvPicPr>
          <p:nvPr/>
        </p:nvPicPr>
        <p:blipFill>
          <a:blip r:embed="rId4"/>
          <a:stretch>
            <a:fillRect/>
          </a:stretch>
        </p:blipFill>
        <p:spPr>
          <a:xfrm>
            <a:off x="4607479" y="1635679"/>
            <a:ext cx="294803" cy="294803"/>
          </a:xfrm>
          <a:prstGeom prst="rect">
            <a:avLst/>
          </a:prstGeom>
        </p:spPr>
      </p:pic>
      <p:sp>
        <p:nvSpPr>
          <p:cNvPr id="10" name="Text 6"/>
          <p:cNvSpPr/>
          <p:nvPr/>
        </p:nvSpPr>
        <p:spPr>
          <a:xfrm>
            <a:off x="5166360" y="1517904"/>
            <a:ext cx="2697480" cy="548640"/>
          </a:xfrm>
          <a:prstGeom prst="rect">
            <a:avLst/>
          </a:prstGeom>
          <a:noFill/>
          <a:ln/>
        </p:spPr>
        <p:txBody>
          <a:bodyPr wrap="square" lIns="0" tIns="0" rIns="0" bIns="0" rtlCol="0" anchor="ctr"/>
          <a:lstStyle/>
          <a:p>
            <a:r>
              <a:rPr lang="en-US" sz="1600" b="1" dirty="0">
                <a:solidFill>
                  <a:srgbClr val="F5F6FA"/>
                </a:solidFill>
                <a:latin typeface="Calibri" pitchFamily="34" charset="0"/>
                <a:ea typeface="Calibri" pitchFamily="34" charset="-122"/>
                <a:cs typeface="Calibri" pitchFamily="34" charset="-120"/>
              </a:rPr>
              <a:t>The Winning Model</a:t>
            </a:r>
            <a:endParaRPr lang="en-US" sz="1600" dirty="0"/>
          </a:p>
        </p:txBody>
      </p:sp>
      <p:sp>
        <p:nvSpPr>
          <p:cNvPr id="11" name="Text 7"/>
          <p:cNvSpPr/>
          <p:nvPr/>
        </p:nvSpPr>
        <p:spPr>
          <a:xfrm>
            <a:off x="4389120" y="2212848"/>
            <a:ext cx="3520440" cy="868680"/>
          </a:xfrm>
          <a:prstGeom prst="rect">
            <a:avLst/>
          </a:prstGeom>
          <a:noFill/>
          <a:ln/>
        </p:spPr>
        <p:txBody>
          <a:bodyPr wrap="square" lIns="0" tIns="0" rIns="0" bIns="0" rtlCol="0" anchor="t"/>
          <a:lstStyle/>
          <a:p>
            <a:pPr>
              <a:lnSpc>
                <a:spcPct val="115000"/>
              </a:lnSpc>
            </a:pPr>
            <a:r>
              <a:rPr lang="en-US" sz="1200" dirty="0">
                <a:solidFill>
                  <a:srgbClr val="9AA3B5"/>
                </a:solidFill>
                <a:latin typeface="Calibri" pitchFamily="34" charset="0"/>
                <a:ea typeface="Calibri" pitchFamily="34" charset="-122"/>
                <a:cs typeface="Calibri" pitchFamily="34" charset="-120"/>
              </a:rPr>
              <a:t>The Base Random Forest (trained on SMOTE-balanced data) achieved the absolute highest clinical safety &amp; </a:t>
            </a:r>
            <a:r>
              <a:rPr lang="en-US" sz="1150" dirty="0">
                <a:solidFill>
                  <a:srgbClr val="9AA3B5"/>
                </a:solidFill>
                <a:latin typeface="Calibri" pitchFamily="34" charset="0"/>
                <a:ea typeface="Calibri" pitchFamily="34" charset="-122"/>
                <a:cs typeface="Calibri" pitchFamily="34" charset="-120"/>
              </a:rPr>
              <a:t>outperformed Light GBM and SVM.</a:t>
            </a:r>
            <a:endParaRPr lang="en-US" sz="1150" dirty="0"/>
          </a:p>
        </p:txBody>
      </p:sp>
      <p:pic>
        <p:nvPicPr>
          <p:cNvPr id="13" name="Image 2" descr="icon_shield.png"/>
          <p:cNvPicPr>
            <a:picLocks noChangeAspect="1"/>
          </p:cNvPicPr>
          <p:nvPr/>
        </p:nvPicPr>
        <p:blipFill>
          <a:blip r:embed="rId5"/>
          <a:stretch>
            <a:fillRect/>
          </a:stretch>
        </p:blipFill>
        <p:spPr>
          <a:xfrm>
            <a:off x="8447959" y="1635679"/>
            <a:ext cx="294803" cy="294803"/>
          </a:xfrm>
          <a:prstGeom prst="rect">
            <a:avLst/>
          </a:prstGeom>
        </p:spPr>
      </p:pic>
      <p:sp>
        <p:nvSpPr>
          <p:cNvPr id="14" name="Text 9"/>
          <p:cNvSpPr/>
          <p:nvPr/>
        </p:nvSpPr>
        <p:spPr>
          <a:xfrm>
            <a:off x="9006840" y="1517904"/>
            <a:ext cx="2697480" cy="548640"/>
          </a:xfrm>
          <a:prstGeom prst="rect">
            <a:avLst/>
          </a:prstGeom>
          <a:noFill/>
          <a:ln/>
        </p:spPr>
        <p:txBody>
          <a:bodyPr wrap="square" lIns="0" tIns="0" rIns="0" bIns="0" rtlCol="0" anchor="ctr"/>
          <a:lstStyle/>
          <a:p>
            <a:r>
              <a:rPr lang="en-US" sz="1600" b="1" dirty="0">
                <a:solidFill>
                  <a:srgbClr val="F5F6FA"/>
                </a:solidFill>
                <a:latin typeface="Calibri" pitchFamily="34" charset="0"/>
                <a:ea typeface="Calibri" pitchFamily="34" charset="-122"/>
                <a:cs typeface="Calibri" pitchFamily="34" charset="-120"/>
              </a:rPr>
              <a:t>Clinical Safety First</a:t>
            </a:r>
            <a:endParaRPr lang="en-US" sz="1600" dirty="0"/>
          </a:p>
        </p:txBody>
      </p:sp>
      <p:sp>
        <p:nvSpPr>
          <p:cNvPr id="15" name="Text 10"/>
          <p:cNvSpPr/>
          <p:nvPr/>
        </p:nvSpPr>
        <p:spPr>
          <a:xfrm>
            <a:off x="8229600" y="2212848"/>
            <a:ext cx="3520440" cy="868680"/>
          </a:xfrm>
          <a:prstGeom prst="rect">
            <a:avLst/>
          </a:prstGeom>
          <a:noFill/>
          <a:ln/>
        </p:spPr>
        <p:txBody>
          <a:bodyPr wrap="square" lIns="0" tIns="0" rIns="0" bIns="0" rtlCol="0" anchor="t"/>
          <a:lstStyle/>
          <a:p>
            <a:pPr>
              <a:lnSpc>
                <a:spcPct val="115000"/>
              </a:lnSpc>
            </a:pPr>
            <a:endParaRPr lang="en-US" sz="1200" dirty="0"/>
          </a:p>
        </p:txBody>
      </p:sp>
      <p:sp>
        <p:nvSpPr>
          <p:cNvPr id="16" name="Shape 11"/>
          <p:cNvSpPr/>
          <p:nvPr/>
        </p:nvSpPr>
        <p:spPr>
          <a:xfrm>
            <a:off x="1935328" y="3017520"/>
            <a:ext cx="8321040" cy="3222662"/>
          </a:xfrm>
          <a:prstGeom prst="roundRect">
            <a:avLst>
              <a:gd name="adj" fmla="val 2837"/>
            </a:avLst>
          </a:prstGeom>
          <a:solidFill>
            <a:srgbClr val="FFFFFF"/>
          </a:solidFill>
          <a:ln w="12700">
            <a:solidFill>
              <a:srgbClr val="232B45"/>
            </a:solidFill>
            <a:prstDash val="solid"/>
          </a:ln>
          <a:effectLst>
            <a:outerShdw blurRad="101600" dist="38100" dir="5400000" algn="bl" rotWithShape="0">
              <a:srgbClr val="000000">
                <a:alpha val="35000"/>
              </a:srgbClr>
            </a:outerShdw>
          </a:effectLst>
        </p:spPr>
      </p:sp>
      <p:pic>
        <p:nvPicPr>
          <p:cNvPr id="17" name="Image 3" descr="confusion_annotated_v2.png"/>
          <p:cNvPicPr>
            <a:picLocks noChangeAspect="1"/>
          </p:cNvPicPr>
          <p:nvPr/>
        </p:nvPicPr>
        <p:blipFill>
          <a:blip r:embed="rId6"/>
          <a:stretch>
            <a:fillRect/>
          </a:stretch>
        </p:blipFill>
        <p:spPr>
          <a:xfrm>
            <a:off x="2163928" y="3246120"/>
            <a:ext cx="7863840" cy="2765462"/>
          </a:xfrm>
          <a:prstGeom prst="rect">
            <a:avLst/>
          </a:prstGeom>
        </p:spPr>
      </p:pic>
      <p:sp>
        <p:nvSpPr>
          <p:cNvPr id="18" name="Text 12"/>
          <p:cNvSpPr/>
          <p:nvPr/>
        </p:nvSpPr>
        <p:spPr>
          <a:xfrm>
            <a:off x="1935328" y="6267614"/>
            <a:ext cx="8321040" cy="320040"/>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Highlighted: </a:t>
            </a:r>
            <a:r>
              <a:rPr lang="en-US" sz="1100" dirty="0">
                <a:solidFill>
                  <a:srgbClr val="9AA3B5"/>
                </a:solidFill>
                <a:latin typeface="Calibri" pitchFamily="34" charset="0"/>
                <a:ea typeface="Calibri" pitchFamily="34" charset="-122"/>
                <a:cs typeface="Calibri" pitchFamily="34" charset="-120"/>
              </a:rPr>
              <a:t>Random Forest's 8 false negatives - the lowest miss-rate among all models tested</a:t>
            </a:r>
            <a:endParaRPr lang="en-US" sz="1100" dirty="0"/>
          </a:p>
        </p:txBody>
      </p:sp>
      <p:sp>
        <p:nvSpPr>
          <p:cNvPr id="19" name="Shape 5">
            <a:extLst>
              <a:ext uri="{FF2B5EF4-FFF2-40B4-BE49-F238E27FC236}">
                <a16:creationId xmlns:a16="http://schemas.microsoft.com/office/drawing/2014/main" id="{6248194C-282B-AE8A-80D4-44144008712A}"/>
              </a:ext>
            </a:extLst>
          </p:cNvPr>
          <p:cNvSpPr/>
          <p:nvPr/>
        </p:nvSpPr>
        <p:spPr>
          <a:xfrm>
            <a:off x="4471416" y="1499616"/>
            <a:ext cx="566928" cy="566928"/>
          </a:xfrm>
          <a:prstGeom prst="ellipse">
            <a:avLst/>
          </a:prstGeom>
          <a:solidFill>
            <a:srgbClr val="8B5CF6"/>
          </a:solidFill>
          <a:ln/>
        </p:spPr>
      </p:sp>
      <p:pic>
        <p:nvPicPr>
          <p:cNvPr id="20" name="Image 1" descr="icon_robot.png">
            <a:extLst>
              <a:ext uri="{FF2B5EF4-FFF2-40B4-BE49-F238E27FC236}">
                <a16:creationId xmlns:a16="http://schemas.microsoft.com/office/drawing/2014/main" id="{A5B83EEC-1A51-82CB-AA9A-896F88A5E8E8}"/>
              </a:ext>
            </a:extLst>
          </p:cNvPr>
          <p:cNvPicPr>
            <a:picLocks noChangeAspect="1"/>
          </p:cNvPicPr>
          <p:nvPr/>
        </p:nvPicPr>
        <p:blipFill>
          <a:blip r:embed="rId7"/>
          <a:stretch>
            <a:fillRect/>
          </a:stretch>
        </p:blipFill>
        <p:spPr>
          <a:xfrm>
            <a:off x="4607478" y="1634563"/>
            <a:ext cx="294803" cy="294803"/>
          </a:xfrm>
          <a:prstGeom prst="rect">
            <a:avLst/>
          </a:prstGeom>
        </p:spPr>
      </p:pic>
      <p:sp>
        <p:nvSpPr>
          <p:cNvPr id="21" name="Shape 8">
            <a:extLst>
              <a:ext uri="{FF2B5EF4-FFF2-40B4-BE49-F238E27FC236}">
                <a16:creationId xmlns:a16="http://schemas.microsoft.com/office/drawing/2014/main" id="{1EFA9E71-93FD-0B3D-E2A6-8D4282296A59}"/>
              </a:ext>
            </a:extLst>
          </p:cNvPr>
          <p:cNvSpPr/>
          <p:nvPr/>
        </p:nvSpPr>
        <p:spPr>
          <a:xfrm>
            <a:off x="8311896" y="1499616"/>
            <a:ext cx="566928" cy="566928"/>
          </a:xfrm>
          <a:prstGeom prst="ellipse">
            <a:avLst/>
          </a:prstGeom>
          <a:solidFill>
            <a:srgbClr val="22C55E"/>
          </a:solidFill>
          <a:ln/>
        </p:spPr>
      </p:sp>
      <p:pic>
        <p:nvPicPr>
          <p:cNvPr id="22" name="Image 2" descr="icon_shield.png">
            <a:extLst>
              <a:ext uri="{FF2B5EF4-FFF2-40B4-BE49-F238E27FC236}">
                <a16:creationId xmlns:a16="http://schemas.microsoft.com/office/drawing/2014/main" id="{8E94FC37-4101-8ED1-72CB-F865F37B47EE}"/>
              </a:ext>
            </a:extLst>
          </p:cNvPr>
          <p:cNvPicPr>
            <a:picLocks noChangeAspect="1"/>
          </p:cNvPicPr>
          <p:nvPr/>
        </p:nvPicPr>
        <p:blipFill>
          <a:blip r:embed="rId5"/>
          <a:stretch>
            <a:fillRect/>
          </a:stretch>
        </p:blipFill>
        <p:spPr>
          <a:xfrm>
            <a:off x="8447959" y="1634564"/>
            <a:ext cx="294803" cy="294803"/>
          </a:xfrm>
          <a:prstGeom prst="rect">
            <a:avLst/>
          </a:prstGeom>
        </p:spPr>
      </p:pic>
      <p:sp>
        <p:nvSpPr>
          <p:cNvPr id="24" name="TextBox 23">
            <a:extLst>
              <a:ext uri="{FF2B5EF4-FFF2-40B4-BE49-F238E27FC236}">
                <a16:creationId xmlns:a16="http://schemas.microsoft.com/office/drawing/2014/main" id="{4125CA25-E18B-EC95-4398-6EFBEF9D845B}"/>
              </a:ext>
            </a:extLst>
          </p:cNvPr>
          <p:cNvSpPr txBox="1"/>
          <p:nvPr/>
        </p:nvSpPr>
        <p:spPr>
          <a:xfrm>
            <a:off x="8229599" y="2186229"/>
            <a:ext cx="3108961" cy="716991"/>
          </a:xfrm>
          <a:prstGeom prst="rect">
            <a:avLst/>
          </a:prstGeom>
          <a:noFill/>
        </p:spPr>
        <p:txBody>
          <a:bodyPr wrap="square">
            <a:spAutoFit/>
          </a:bodyPr>
          <a:lstStyle/>
          <a:p>
            <a:pPr marL="0" indent="0">
              <a:lnSpc>
                <a:spcPct val="115000"/>
              </a:lnSpc>
              <a:buNone/>
            </a:pPr>
            <a:r>
              <a:rPr lang="en-US" sz="1200" dirty="0">
                <a:solidFill>
                  <a:srgbClr val="9AA3B5"/>
                </a:solidFill>
                <a:latin typeface="Calibri" pitchFamily="34" charset="0"/>
                <a:ea typeface="Calibri" pitchFamily="34" charset="-122"/>
                <a:cs typeface="Calibri" pitchFamily="34" charset="-120"/>
              </a:rPr>
              <a:t>Random Forest achieved &gt;98% Recall, missing only 8 seizures out of thousands of test samples.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Calibri" pitchFamily="34" charset="0"/>
                <a:ea typeface="Calibri" pitchFamily="34" charset="-122"/>
                <a:cs typeface="Calibri" pitchFamily="34" charset="-120"/>
              </a:rPr>
              <a:t>PROJECT UI &amp; CLOUD ARCHITECTURE</a:t>
            </a:r>
            <a:endParaRPr lang="en-US" sz="1200" dirty="0"/>
          </a:p>
        </p:txBody>
      </p:sp>
      <p:sp>
        <p:nvSpPr>
          <p:cNvPr id="3" name="Text 1"/>
          <p:cNvSpPr/>
          <p:nvPr/>
        </p:nvSpPr>
        <p:spPr>
          <a:xfrm>
            <a:off x="548640" y="676656"/>
            <a:ext cx="10789920" cy="777240"/>
          </a:xfrm>
          <a:prstGeom prst="rect">
            <a:avLst/>
          </a:prstGeom>
          <a:noFill/>
          <a:ln/>
        </p:spPr>
        <p:txBody>
          <a:bodyPr wrap="square" lIns="0" tIns="0" rIns="0" bIns="0" rtlCol="0" anchor="ctr"/>
          <a:lstStyle/>
          <a:p>
            <a:pPr marL="0" indent="0">
              <a:buNone/>
            </a:pPr>
            <a:r>
              <a:rPr lang="en-US" sz="3000" b="1" dirty="0">
                <a:solidFill>
                  <a:srgbClr val="F5F6FA"/>
                </a:solidFill>
                <a:latin typeface="Cambria" pitchFamily="34" charset="0"/>
                <a:ea typeface="Cambria" pitchFamily="34" charset="-122"/>
                <a:cs typeface="Cambria" pitchFamily="34" charset="-120"/>
              </a:rPr>
              <a:t>NeuroPulse AI: Live Cloud Deployment</a:t>
            </a:r>
            <a:endParaRPr lang="en-US" sz="3000" dirty="0"/>
          </a:p>
        </p:txBody>
      </p:sp>
      <p:sp>
        <p:nvSpPr>
          <p:cNvPr id="4" name="Shape 2"/>
          <p:cNvSpPr/>
          <p:nvPr/>
        </p:nvSpPr>
        <p:spPr>
          <a:xfrm>
            <a:off x="548640" y="1618488"/>
            <a:ext cx="548640" cy="548640"/>
          </a:xfrm>
          <a:prstGeom prst="ellipse">
            <a:avLst/>
          </a:prstGeom>
          <a:solidFill>
            <a:srgbClr val="8B5CF6"/>
          </a:solidFill>
          <a:ln/>
        </p:spPr>
      </p:sp>
      <p:pic>
        <p:nvPicPr>
          <p:cNvPr id="5" name="Image 0" descr="icon_cloud.png"/>
          <p:cNvPicPr>
            <a:picLocks noChangeAspect="1"/>
          </p:cNvPicPr>
          <p:nvPr/>
        </p:nvPicPr>
        <p:blipFill>
          <a:blip r:embed="rId3"/>
          <a:stretch>
            <a:fillRect/>
          </a:stretch>
        </p:blipFill>
        <p:spPr>
          <a:xfrm>
            <a:off x="680314" y="1750162"/>
            <a:ext cx="285293" cy="285293"/>
          </a:xfrm>
          <a:prstGeom prst="rect">
            <a:avLst/>
          </a:prstGeom>
        </p:spPr>
      </p:pic>
      <p:sp>
        <p:nvSpPr>
          <p:cNvPr id="6" name="Text 3"/>
          <p:cNvSpPr/>
          <p:nvPr/>
        </p:nvSpPr>
        <p:spPr>
          <a:xfrm>
            <a:off x="1261872" y="1600200"/>
            <a:ext cx="3337560" cy="320040"/>
          </a:xfrm>
          <a:prstGeom prst="rect">
            <a:avLst/>
          </a:prstGeom>
          <a:noFill/>
          <a:ln/>
        </p:spPr>
        <p:txBody>
          <a:bodyPr wrap="square" lIns="0" tIns="0" rIns="0" bIns="0" rtlCol="0" anchor="ctr"/>
          <a:lstStyle/>
          <a:p>
            <a:pPr marL="0" indent="0">
              <a:buNone/>
            </a:pPr>
            <a:r>
              <a:rPr lang="en-US" sz="1400" b="1" dirty="0">
                <a:solidFill>
                  <a:srgbClr val="F5F6FA"/>
                </a:solidFill>
                <a:latin typeface="Calibri" pitchFamily="34" charset="0"/>
                <a:ea typeface="Calibri" pitchFamily="34" charset="-122"/>
                <a:cs typeface="Calibri" pitchFamily="34" charset="-120"/>
              </a:rPr>
              <a:t>AWS Infrastructure</a:t>
            </a:r>
            <a:endParaRPr lang="en-US" sz="1400" dirty="0"/>
          </a:p>
        </p:txBody>
      </p:sp>
      <p:sp>
        <p:nvSpPr>
          <p:cNvPr id="7" name="Text 4"/>
          <p:cNvSpPr/>
          <p:nvPr/>
        </p:nvSpPr>
        <p:spPr>
          <a:xfrm>
            <a:off x="1261872" y="1920240"/>
            <a:ext cx="3383280" cy="777240"/>
          </a:xfrm>
          <a:prstGeom prst="rect">
            <a:avLst/>
          </a:prstGeom>
          <a:noFill/>
          <a:ln/>
        </p:spPr>
        <p:txBody>
          <a:bodyPr wrap="square" lIns="0" tIns="0" rIns="0" bIns="0" rtlCol="0" anchor="t"/>
          <a:lstStyle/>
          <a:p>
            <a:pPr marL="0" indent="0">
              <a:lnSpc>
                <a:spcPct val="112000"/>
              </a:lnSpc>
              <a:buNone/>
            </a:pPr>
            <a:r>
              <a:rPr lang="en-US" sz="1100" dirty="0">
                <a:solidFill>
                  <a:srgbClr val="9AA3B5"/>
                </a:solidFill>
                <a:latin typeface="Calibri" pitchFamily="34" charset="0"/>
                <a:ea typeface="Calibri" pitchFamily="34" charset="-122"/>
                <a:cs typeface="Calibri" pitchFamily="34" charset="-120"/>
              </a:rPr>
              <a:t>Deployed on an AWS EC2 instance using a lightweight Python Flask backend.</a:t>
            </a:r>
            <a:endParaRPr lang="en-US" sz="1100" dirty="0"/>
          </a:p>
        </p:txBody>
      </p:sp>
      <p:sp>
        <p:nvSpPr>
          <p:cNvPr id="8" name="Shape 5"/>
          <p:cNvSpPr/>
          <p:nvPr/>
        </p:nvSpPr>
        <p:spPr>
          <a:xfrm>
            <a:off x="548640" y="2788920"/>
            <a:ext cx="548640" cy="548640"/>
          </a:xfrm>
          <a:prstGeom prst="ellipse">
            <a:avLst/>
          </a:prstGeom>
          <a:solidFill>
            <a:srgbClr val="8B5CF6"/>
          </a:solidFill>
          <a:ln/>
        </p:spPr>
      </p:sp>
      <p:pic>
        <p:nvPicPr>
          <p:cNvPr id="9" name="Image 1" descr="icon_layerGroup.png"/>
          <p:cNvPicPr>
            <a:picLocks noChangeAspect="1"/>
          </p:cNvPicPr>
          <p:nvPr/>
        </p:nvPicPr>
        <p:blipFill>
          <a:blip r:embed="rId4"/>
          <a:stretch>
            <a:fillRect/>
          </a:stretch>
        </p:blipFill>
        <p:spPr>
          <a:xfrm>
            <a:off x="680314" y="2920594"/>
            <a:ext cx="285293" cy="285293"/>
          </a:xfrm>
          <a:prstGeom prst="rect">
            <a:avLst/>
          </a:prstGeom>
        </p:spPr>
      </p:pic>
      <p:sp>
        <p:nvSpPr>
          <p:cNvPr id="10" name="Text 6"/>
          <p:cNvSpPr/>
          <p:nvPr/>
        </p:nvSpPr>
        <p:spPr>
          <a:xfrm>
            <a:off x="1261872" y="2770632"/>
            <a:ext cx="3337560" cy="320040"/>
          </a:xfrm>
          <a:prstGeom prst="rect">
            <a:avLst/>
          </a:prstGeom>
          <a:noFill/>
          <a:ln/>
        </p:spPr>
        <p:txBody>
          <a:bodyPr wrap="square" lIns="0" tIns="0" rIns="0" bIns="0" rtlCol="0" anchor="ctr"/>
          <a:lstStyle/>
          <a:p>
            <a:pPr marL="0" indent="0">
              <a:buNone/>
            </a:pPr>
            <a:r>
              <a:rPr lang="en-US" sz="1400" b="1" dirty="0">
                <a:solidFill>
                  <a:srgbClr val="F5F6FA"/>
                </a:solidFill>
                <a:latin typeface="Calibri" pitchFamily="34" charset="0"/>
                <a:ea typeface="Calibri" pitchFamily="34" charset="-122"/>
                <a:cs typeface="Calibri" pitchFamily="34" charset="-120"/>
              </a:rPr>
              <a:t>Scalable Batch Processing</a:t>
            </a:r>
            <a:endParaRPr lang="en-US" sz="1400" dirty="0"/>
          </a:p>
        </p:txBody>
      </p:sp>
      <p:sp>
        <p:nvSpPr>
          <p:cNvPr id="11" name="Text 7"/>
          <p:cNvSpPr/>
          <p:nvPr/>
        </p:nvSpPr>
        <p:spPr>
          <a:xfrm>
            <a:off x="1261872" y="3090672"/>
            <a:ext cx="3383280" cy="777240"/>
          </a:xfrm>
          <a:prstGeom prst="rect">
            <a:avLst/>
          </a:prstGeom>
          <a:noFill/>
          <a:ln/>
        </p:spPr>
        <p:txBody>
          <a:bodyPr wrap="square" lIns="0" tIns="0" rIns="0" bIns="0" rtlCol="0" anchor="t"/>
          <a:lstStyle/>
          <a:p>
            <a:pPr marL="0" indent="0">
              <a:lnSpc>
                <a:spcPct val="112000"/>
              </a:lnSpc>
              <a:buNone/>
            </a:pPr>
            <a:r>
              <a:rPr lang="en-US" sz="1100" dirty="0">
                <a:solidFill>
                  <a:srgbClr val="9AA3B5"/>
                </a:solidFill>
                <a:latin typeface="Calibri" pitchFamily="34" charset="0"/>
                <a:ea typeface="Calibri" pitchFamily="34" charset="-122"/>
                <a:cs typeface="Calibri" pitchFamily="34" charset="-120"/>
              </a:rPr>
              <a:t>Segments multi-hour files into 1-second chunks to prevent server memory crashes during uploads.</a:t>
            </a:r>
            <a:endParaRPr lang="en-US" sz="1100" dirty="0"/>
          </a:p>
        </p:txBody>
      </p:sp>
      <p:sp>
        <p:nvSpPr>
          <p:cNvPr id="12" name="Shape 8"/>
          <p:cNvSpPr/>
          <p:nvPr/>
        </p:nvSpPr>
        <p:spPr>
          <a:xfrm>
            <a:off x="548640" y="3959352"/>
            <a:ext cx="548640" cy="548640"/>
          </a:xfrm>
          <a:prstGeom prst="ellipse">
            <a:avLst/>
          </a:prstGeom>
          <a:solidFill>
            <a:srgbClr val="EF4444"/>
          </a:solidFill>
          <a:ln/>
        </p:spPr>
      </p:sp>
      <p:pic>
        <p:nvPicPr>
          <p:cNvPr id="13" name="Image 2" descr="icon_chart.png"/>
          <p:cNvPicPr>
            <a:picLocks noChangeAspect="1"/>
          </p:cNvPicPr>
          <p:nvPr/>
        </p:nvPicPr>
        <p:blipFill>
          <a:blip r:embed="rId5"/>
          <a:stretch>
            <a:fillRect/>
          </a:stretch>
        </p:blipFill>
        <p:spPr>
          <a:xfrm>
            <a:off x="680314" y="4091026"/>
            <a:ext cx="285293" cy="285293"/>
          </a:xfrm>
          <a:prstGeom prst="rect">
            <a:avLst/>
          </a:prstGeom>
        </p:spPr>
      </p:pic>
      <p:sp>
        <p:nvSpPr>
          <p:cNvPr id="14" name="Text 9"/>
          <p:cNvSpPr/>
          <p:nvPr/>
        </p:nvSpPr>
        <p:spPr>
          <a:xfrm>
            <a:off x="1261872" y="3941064"/>
            <a:ext cx="3337560" cy="320040"/>
          </a:xfrm>
          <a:prstGeom prst="rect">
            <a:avLst/>
          </a:prstGeom>
          <a:noFill/>
          <a:ln/>
        </p:spPr>
        <p:txBody>
          <a:bodyPr wrap="square" lIns="0" tIns="0" rIns="0" bIns="0" rtlCol="0" anchor="ctr"/>
          <a:lstStyle/>
          <a:p>
            <a:pPr marL="0" indent="0">
              <a:buNone/>
            </a:pPr>
            <a:r>
              <a:rPr lang="en-US" sz="1400" b="1" dirty="0">
                <a:solidFill>
                  <a:srgbClr val="F5F6FA"/>
                </a:solidFill>
                <a:latin typeface="Calibri" pitchFamily="34" charset="0"/>
                <a:ea typeface="Calibri" pitchFamily="34" charset="-122"/>
                <a:cs typeface="Calibri" pitchFamily="34" charset="-120"/>
              </a:rPr>
              <a:t>Temporal Diagnostic Map</a:t>
            </a:r>
            <a:endParaRPr lang="en-US" sz="1400" dirty="0"/>
          </a:p>
        </p:txBody>
      </p:sp>
      <p:sp>
        <p:nvSpPr>
          <p:cNvPr id="15" name="Text 10"/>
          <p:cNvSpPr/>
          <p:nvPr/>
        </p:nvSpPr>
        <p:spPr>
          <a:xfrm>
            <a:off x="1261872" y="4261104"/>
            <a:ext cx="3383280" cy="777240"/>
          </a:xfrm>
          <a:prstGeom prst="rect">
            <a:avLst/>
          </a:prstGeom>
          <a:noFill/>
          <a:ln/>
        </p:spPr>
        <p:txBody>
          <a:bodyPr wrap="square" lIns="0" tIns="0" rIns="0" bIns="0" rtlCol="0" anchor="t"/>
          <a:lstStyle/>
          <a:p>
            <a:pPr marL="0" indent="0">
              <a:lnSpc>
                <a:spcPct val="112000"/>
              </a:lnSpc>
              <a:buNone/>
            </a:pPr>
            <a:r>
              <a:rPr lang="en-US" sz="1100" dirty="0">
                <a:solidFill>
                  <a:srgbClr val="9AA3B5"/>
                </a:solidFill>
                <a:latin typeface="Calibri" pitchFamily="34" charset="0"/>
                <a:ea typeface="Calibri" pitchFamily="34" charset="-122"/>
                <a:cs typeface="Calibri" pitchFamily="34" charset="-120"/>
              </a:rPr>
              <a:t>Translates hours of data into a color-coded timeline (Red = Seizure, Green = Normal) for instant visual triage.</a:t>
            </a:r>
            <a:endParaRPr lang="en-US" sz="1100" dirty="0"/>
          </a:p>
        </p:txBody>
      </p:sp>
      <p:sp>
        <p:nvSpPr>
          <p:cNvPr id="16" name="Shape 11"/>
          <p:cNvSpPr/>
          <p:nvPr/>
        </p:nvSpPr>
        <p:spPr>
          <a:xfrm>
            <a:off x="548640" y="5129784"/>
            <a:ext cx="548640" cy="548640"/>
          </a:xfrm>
          <a:prstGeom prst="ellipse">
            <a:avLst/>
          </a:prstGeom>
          <a:solidFill>
            <a:srgbClr val="22C55E"/>
          </a:solidFill>
          <a:ln/>
        </p:spPr>
      </p:sp>
      <p:pic>
        <p:nvPicPr>
          <p:cNvPr id="17" name="Image 3" descr="icon_waveSquare.png"/>
          <p:cNvPicPr>
            <a:picLocks noChangeAspect="1"/>
          </p:cNvPicPr>
          <p:nvPr/>
        </p:nvPicPr>
        <p:blipFill>
          <a:blip r:embed="rId6"/>
          <a:stretch>
            <a:fillRect/>
          </a:stretch>
        </p:blipFill>
        <p:spPr>
          <a:xfrm>
            <a:off x="680314" y="5261458"/>
            <a:ext cx="285293" cy="285293"/>
          </a:xfrm>
          <a:prstGeom prst="rect">
            <a:avLst/>
          </a:prstGeom>
        </p:spPr>
      </p:pic>
      <p:sp>
        <p:nvSpPr>
          <p:cNvPr id="18" name="Text 12"/>
          <p:cNvSpPr/>
          <p:nvPr/>
        </p:nvSpPr>
        <p:spPr>
          <a:xfrm>
            <a:off x="1261872" y="5111496"/>
            <a:ext cx="3337560" cy="320040"/>
          </a:xfrm>
          <a:prstGeom prst="rect">
            <a:avLst/>
          </a:prstGeom>
          <a:noFill/>
          <a:ln/>
        </p:spPr>
        <p:txBody>
          <a:bodyPr wrap="square" lIns="0" tIns="0" rIns="0" bIns="0" rtlCol="0" anchor="ctr"/>
          <a:lstStyle/>
          <a:p>
            <a:pPr marL="0" indent="0">
              <a:buNone/>
            </a:pPr>
            <a:r>
              <a:rPr lang="en-US" sz="1400" b="1" dirty="0">
                <a:solidFill>
                  <a:srgbClr val="F5F6FA"/>
                </a:solidFill>
                <a:latin typeface="Calibri" pitchFamily="34" charset="0"/>
                <a:ea typeface="Calibri" pitchFamily="34" charset="-122"/>
                <a:cs typeface="Calibri" pitchFamily="34" charset="-120"/>
              </a:rPr>
              <a:t>AJAX Waveform Viewer</a:t>
            </a:r>
            <a:endParaRPr lang="en-US" sz="1400" dirty="0"/>
          </a:p>
        </p:txBody>
      </p:sp>
      <p:sp>
        <p:nvSpPr>
          <p:cNvPr id="19" name="Text 13"/>
          <p:cNvSpPr/>
          <p:nvPr/>
        </p:nvSpPr>
        <p:spPr>
          <a:xfrm>
            <a:off x="1261872" y="5431536"/>
            <a:ext cx="3383280" cy="777240"/>
          </a:xfrm>
          <a:prstGeom prst="rect">
            <a:avLst/>
          </a:prstGeom>
          <a:noFill/>
          <a:ln/>
        </p:spPr>
        <p:txBody>
          <a:bodyPr wrap="square" lIns="0" tIns="0" rIns="0" bIns="0" rtlCol="0" anchor="t"/>
          <a:lstStyle/>
          <a:p>
            <a:pPr marL="0" indent="0">
              <a:lnSpc>
                <a:spcPct val="112000"/>
              </a:lnSpc>
              <a:buNone/>
            </a:pPr>
            <a:r>
              <a:rPr lang="en-US" sz="1100" dirty="0">
                <a:solidFill>
                  <a:srgbClr val="9AA3B5"/>
                </a:solidFill>
                <a:latin typeface="Calibri" pitchFamily="34" charset="0"/>
                <a:ea typeface="Calibri" pitchFamily="34" charset="-122"/>
                <a:cs typeface="Calibri" pitchFamily="34" charset="-120"/>
              </a:rPr>
              <a:t>Uses headless Matplotlib to render raw waveform graphs instantly for clinical verification without page reloads.</a:t>
            </a:r>
            <a:endParaRPr lang="en-US" sz="1100" dirty="0"/>
          </a:p>
        </p:txBody>
      </p:sp>
      <p:sp>
        <p:nvSpPr>
          <p:cNvPr id="20" name="Text 14"/>
          <p:cNvSpPr/>
          <p:nvPr/>
        </p:nvSpPr>
        <p:spPr>
          <a:xfrm>
            <a:off x="4892040" y="1371600"/>
            <a:ext cx="6720840" cy="274320"/>
          </a:xfrm>
          <a:prstGeom prst="rect">
            <a:avLst/>
          </a:prstGeom>
          <a:noFill/>
          <a:ln/>
        </p:spPr>
        <p:txBody>
          <a:bodyPr wrap="square" lIns="0" tIns="0" rIns="0" bIns="0" rtlCol="0" anchor="ctr"/>
          <a:lstStyle/>
          <a:p>
            <a:pPr marL="0" indent="0">
              <a:buNone/>
            </a:pPr>
            <a:r>
              <a:rPr lang="en-US" sz="1050" b="1" kern="0" spc="100" dirty="0">
                <a:solidFill>
                  <a:srgbClr val="9AA3B5"/>
                </a:solidFill>
                <a:latin typeface="Calibri" pitchFamily="34" charset="0"/>
                <a:ea typeface="Calibri" pitchFamily="34" charset="-122"/>
                <a:cs typeface="Calibri" pitchFamily="34" charset="-120"/>
              </a:rPr>
              <a:t>LIVE DASHBOARD — SEIZURE ALERT &amp; TIMELINE</a:t>
            </a:r>
            <a:endParaRPr lang="en-US" sz="1050" dirty="0"/>
          </a:p>
        </p:txBody>
      </p:sp>
      <p:sp>
        <p:nvSpPr>
          <p:cNvPr id="21" name="Shape 15"/>
          <p:cNvSpPr/>
          <p:nvPr/>
        </p:nvSpPr>
        <p:spPr>
          <a:xfrm>
            <a:off x="4892040" y="1691640"/>
            <a:ext cx="3232404" cy="2575249"/>
          </a:xfrm>
          <a:prstGeom prst="roundRect">
            <a:avLst>
              <a:gd name="adj" fmla="val 2841"/>
            </a:avLst>
          </a:prstGeom>
          <a:solidFill>
            <a:srgbClr val="0E1424"/>
          </a:solidFill>
          <a:ln w="12700">
            <a:solidFill>
              <a:srgbClr val="232B45"/>
            </a:solidFill>
            <a:prstDash val="solid"/>
          </a:ln>
          <a:effectLst>
            <a:outerShdw blurRad="101600" dist="38100" dir="5400000" algn="bl" rotWithShape="0">
              <a:srgbClr val="000000">
                <a:alpha val="35000"/>
              </a:srgbClr>
            </a:outerShdw>
          </a:effectLst>
        </p:spPr>
      </p:sp>
      <p:pic>
        <p:nvPicPr>
          <p:cNvPr id="22" name="Image 4" descr="1785908256435_image.png"/>
          <p:cNvPicPr>
            <a:picLocks noChangeAspect="1"/>
          </p:cNvPicPr>
          <p:nvPr/>
        </p:nvPicPr>
        <p:blipFill>
          <a:blip r:embed="rId7"/>
          <a:stretch>
            <a:fillRect/>
          </a:stretch>
        </p:blipFill>
        <p:spPr>
          <a:xfrm>
            <a:off x="4892040" y="1766209"/>
            <a:ext cx="3232404" cy="2426111"/>
          </a:xfrm>
          <a:prstGeom prst="rect">
            <a:avLst/>
          </a:prstGeom>
        </p:spPr>
      </p:pic>
      <p:sp>
        <p:nvSpPr>
          <p:cNvPr id="23" name="Shape 16"/>
          <p:cNvSpPr/>
          <p:nvPr/>
        </p:nvSpPr>
        <p:spPr>
          <a:xfrm>
            <a:off x="8380476" y="1691640"/>
            <a:ext cx="3232404" cy="2575249"/>
          </a:xfrm>
          <a:prstGeom prst="roundRect">
            <a:avLst>
              <a:gd name="adj" fmla="val 2841"/>
            </a:avLst>
          </a:prstGeom>
          <a:solidFill>
            <a:srgbClr val="0E1424"/>
          </a:solidFill>
          <a:ln w="12700">
            <a:solidFill>
              <a:srgbClr val="232B45"/>
            </a:solidFill>
            <a:prstDash val="solid"/>
          </a:ln>
          <a:effectLst>
            <a:outerShdw blurRad="101600" dist="38100" dir="5400000" algn="bl" rotWithShape="0">
              <a:srgbClr val="000000">
                <a:alpha val="35000"/>
              </a:srgbClr>
            </a:outerShdw>
          </a:effectLst>
        </p:spPr>
      </p:sp>
      <p:pic>
        <p:nvPicPr>
          <p:cNvPr id="24" name="Image 5" descr="1785908353379_image.png"/>
          <p:cNvPicPr>
            <a:picLocks noChangeAspect="1"/>
          </p:cNvPicPr>
          <p:nvPr/>
        </p:nvPicPr>
        <p:blipFill>
          <a:blip r:embed="rId8"/>
          <a:stretch>
            <a:fillRect/>
          </a:stretch>
        </p:blipFill>
        <p:spPr>
          <a:xfrm>
            <a:off x="8380476" y="1691640"/>
            <a:ext cx="3232404" cy="2575249"/>
          </a:xfrm>
          <a:prstGeom prst="rect">
            <a:avLst/>
          </a:prstGeom>
        </p:spPr>
      </p:pic>
      <p:sp>
        <p:nvSpPr>
          <p:cNvPr id="25" name="Text 17"/>
          <p:cNvSpPr/>
          <p:nvPr/>
        </p:nvSpPr>
        <p:spPr>
          <a:xfrm>
            <a:off x="4892040" y="4449769"/>
            <a:ext cx="6720840" cy="502920"/>
          </a:xfrm>
          <a:prstGeom prst="rect">
            <a:avLst/>
          </a:prstGeom>
          <a:noFill/>
          <a:ln/>
        </p:spPr>
        <p:txBody>
          <a:bodyPr wrap="square" lIns="0" tIns="0" rIns="0" bIns="0" rtlCol="0" anchor="ctr"/>
          <a:lstStyle/>
          <a:p>
            <a:pPr marL="0" indent="0">
              <a:lnSpc>
                <a:spcPct val="115000"/>
              </a:lnSpc>
              <a:buNone/>
            </a:pPr>
            <a:r>
              <a:rPr lang="en-US" sz="1050" i="1" dirty="0">
                <a:solidFill>
                  <a:srgbClr val="9AA3B5"/>
                </a:solidFill>
                <a:latin typeface="Calibri" pitchFamily="34" charset="0"/>
                <a:ea typeface="Calibri" pitchFamily="34" charset="-122"/>
                <a:cs typeface="Calibri" pitchFamily="34" charset="-120"/>
              </a:rPr>
              <a:t>Red segments flag seizure activity; green confirms normal brainwaves — clinicians verify instantly with the raw waveform scrubber.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B0F1A"/>
        </a:solidFill>
        <a:effectLst/>
      </p:bgPr>
    </p:bg>
    <p:spTree>
      <p:nvGrpSpPr>
        <p:cNvPr id="1" name=""/>
        <p:cNvGrpSpPr/>
        <p:nvPr/>
      </p:nvGrpSpPr>
      <p:grpSpPr>
        <a:xfrm>
          <a:off x="0" y="0"/>
          <a:ext cx="0" cy="0"/>
          <a:chOff x="0" y="0"/>
          <a:chExt cx="0" cy="0"/>
        </a:xfrm>
      </p:grpSpPr>
      <p:sp>
        <p:nvSpPr>
          <p:cNvPr id="16" name="Text 0">
            <a:extLst>
              <a:ext uri="{FF2B5EF4-FFF2-40B4-BE49-F238E27FC236}">
                <a16:creationId xmlns:a16="http://schemas.microsoft.com/office/drawing/2014/main" id="{292B2A43-6788-D4FA-B5BB-2715FCFDB988}"/>
              </a:ext>
            </a:extLst>
          </p:cNvPr>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Calibri" pitchFamily="34" charset="0"/>
                <a:ea typeface="Calibri" pitchFamily="34" charset="-122"/>
                <a:cs typeface="Calibri" pitchFamily="34" charset="-120"/>
              </a:rPr>
              <a:t>JUSTIFICATION OF THE OVERALL PROJECT</a:t>
            </a:r>
            <a:endParaRPr lang="en-US" sz="1200" dirty="0"/>
          </a:p>
        </p:txBody>
      </p:sp>
      <p:sp>
        <p:nvSpPr>
          <p:cNvPr id="17" name="Text 1">
            <a:extLst>
              <a:ext uri="{FF2B5EF4-FFF2-40B4-BE49-F238E27FC236}">
                <a16:creationId xmlns:a16="http://schemas.microsoft.com/office/drawing/2014/main" id="{14C682F6-28BA-E181-CB3A-6B3DB810B53A}"/>
              </a:ext>
            </a:extLst>
          </p:cNvPr>
          <p:cNvSpPr/>
          <p:nvPr/>
        </p:nvSpPr>
        <p:spPr>
          <a:xfrm>
            <a:off x="548640" y="676656"/>
            <a:ext cx="10789920" cy="777240"/>
          </a:xfrm>
          <a:prstGeom prst="rect">
            <a:avLst/>
          </a:prstGeom>
          <a:noFill/>
          <a:ln/>
        </p:spPr>
        <p:txBody>
          <a:bodyPr wrap="square" lIns="0" tIns="0" rIns="0" bIns="0" rtlCol="0" anchor="ctr"/>
          <a:lstStyle/>
          <a:p>
            <a:pPr marL="0" indent="0">
              <a:buNone/>
            </a:pPr>
            <a:r>
              <a:rPr lang="en-US" sz="3000" b="1" dirty="0">
                <a:solidFill>
                  <a:srgbClr val="F5F6FA"/>
                </a:solidFill>
                <a:latin typeface="Cambria" pitchFamily="34" charset="0"/>
                <a:ea typeface="Cambria" pitchFamily="34" charset="-122"/>
                <a:cs typeface="Cambria" pitchFamily="34" charset="-120"/>
              </a:rPr>
              <a:t>Clinical Impact &amp; Value Proposition</a:t>
            </a:r>
            <a:endParaRPr lang="en-US" sz="3000" dirty="0"/>
          </a:p>
        </p:txBody>
      </p:sp>
      <p:sp>
        <p:nvSpPr>
          <p:cNvPr id="18" name="Shape 2">
            <a:extLst>
              <a:ext uri="{FF2B5EF4-FFF2-40B4-BE49-F238E27FC236}">
                <a16:creationId xmlns:a16="http://schemas.microsoft.com/office/drawing/2014/main" id="{E1E20F94-DB0A-C847-35DE-4499BD211847}"/>
              </a:ext>
            </a:extLst>
          </p:cNvPr>
          <p:cNvSpPr/>
          <p:nvPr/>
        </p:nvSpPr>
        <p:spPr>
          <a:xfrm>
            <a:off x="594360" y="1874520"/>
            <a:ext cx="3520440" cy="4023360"/>
          </a:xfrm>
          <a:prstGeom prst="roundRect">
            <a:avLst>
              <a:gd name="adj" fmla="val 4156"/>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19" name="Shape 3">
            <a:extLst>
              <a:ext uri="{FF2B5EF4-FFF2-40B4-BE49-F238E27FC236}">
                <a16:creationId xmlns:a16="http://schemas.microsoft.com/office/drawing/2014/main" id="{498204FE-BDDC-8C0C-5AEC-38324EA40615}"/>
              </a:ext>
            </a:extLst>
          </p:cNvPr>
          <p:cNvSpPr/>
          <p:nvPr/>
        </p:nvSpPr>
        <p:spPr>
          <a:xfrm>
            <a:off x="1897380" y="2286000"/>
            <a:ext cx="914400" cy="914400"/>
          </a:xfrm>
          <a:prstGeom prst="ellipse">
            <a:avLst/>
          </a:prstGeom>
          <a:solidFill>
            <a:srgbClr val="8B5CF6"/>
          </a:solidFill>
          <a:ln/>
        </p:spPr>
      </p:sp>
      <p:pic>
        <p:nvPicPr>
          <p:cNvPr id="20" name="Image 0" descr="icon_clock.png">
            <a:extLst>
              <a:ext uri="{FF2B5EF4-FFF2-40B4-BE49-F238E27FC236}">
                <a16:creationId xmlns:a16="http://schemas.microsoft.com/office/drawing/2014/main" id="{67D0ED1F-CACF-9BD8-4261-60CAD6BFBB8C}"/>
              </a:ext>
            </a:extLst>
          </p:cNvPr>
          <p:cNvPicPr>
            <a:picLocks noChangeAspect="1"/>
          </p:cNvPicPr>
          <p:nvPr/>
        </p:nvPicPr>
        <p:blipFill>
          <a:blip r:embed="rId3"/>
          <a:stretch>
            <a:fillRect/>
          </a:stretch>
        </p:blipFill>
        <p:spPr>
          <a:xfrm>
            <a:off x="2116836" y="2505456"/>
            <a:ext cx="475488" cy="475488"/>
          </a:xfrm>
          <a:prstGeom prst="rect">
            <a:avLst/>
          </a:prstGeom>
        </p:spPr>
      </p:pic>
      <p:sp>
        <p:nvSpPr>
          <p:cNvPr id="21" name="Text 4">
            <a:extLst>
              <a:ext uri="{FF2B5EF4-FFF2-40B4-BE49-F238E27FC236}">
                <a16:creationId xmlns:a16="http://schemas.microsoft.com/office/drawing/2014/main" id="{F995839E-2845-C44B-31F5-11E4A91AE8B1}"/>
              </a:ext>
            </a:extLst>
          </p:cNvPr>
          <p:cNvSpPr/>
          <p:nvPr/>
        </p:nvSpPr>
        <p:spPr>
          <a:xfrm>
            <a:off x="822960" y="3383280"/>
            <a:ext cx="3063240" cy="548640"/>
          </a:xfrm>
          <a:prstGeom prst="rect">
            <a:avLst/>
          </a:prstGeom>
          <a:noFill/>
          <a:ln/>
        </p:spPr>
        <p:txBody>
          <a:bodyPr wrap="square" lIns="0" tIns="0" rIns="0" bIns="0" rtlCol="0" anchor="ctr"/>
          <a:lstStyle/>
          <a:p>
            <a:pPr marL="0" indent="0" algn="ctr">
              <a:buNone/>
            </a:pPr>
            <a:r>
              <a:rPr lang="en-US" sz="1600" b="1" dirty="0">
                <a:solidFill>
                  <a:srgbClr val="F5F6FA"/>
                </a:solidFill>
                <a:latin typeface="Calibri" pitchFamily="34" charset="0"/>
                <a:ea typeface="Calibri" pitchFamily="34" charset="-122"/>
                <a:cs typeface="Calibri" pitchFamily="34" charset="-120"/>
              </a:rPr>
              <a:t>Operational Efficiency</a:t>
            </a:r>
            <a:endParaRPr lang="en-US" sz="1600" dirty="0"/>
          </a:p>
        </p:txBody>
      </p:sp>
      <p:sp>
        <p:nvSpPr>
          <p:cNvPr id="22" name="Text 5">
            <a:extLst>
              <a:ext uri="{FF2B5EF4-FFF2-40B4-BE49-F238E27FC236}">
                <a16:creationId xmlns:a16="http://schemas.microsoft.com/office/drawing/2014/main" id="{9318D8CC-7C6C-1ED8-BECF-A048D079032F}"/>
              </a:ext>
            </a:extLst>
          </p:cNvPr>
          <p:cNvSpPr/>
          <p:nvPr/>
        </p:nvSpPr>
        <p:spPr>
          <a:xfrm>
            <a:off x="914400" y="4023360"/>
            <a:ext cx="2880360" cy="1554480"/>
          </a:xfrm>
          <a:prstGeom prst="rect">
            <a:avLst/>
          </a:prstGeom>
          <a:noFill/>
          <a:ln/>
        </p:spPr>
        <p:txBody>
          <a:bodyPr wrap="square" lIns="0" tIns="0" rIns="0" bIns="0" rtlCol="0" anchor="ctr"/>
          <a:lstStyle/>
          <a:p>
            <a:pPr marL="0" indent="0" algn="ctr">
              <a:lnSpc>
                <a:spcPct val="125000"/>
              </a:lnSpc>
              <a:buNone/>
            </a:pPr>
            <a:r>
              <a:rPr lang="en-US" sz="1200" dirty="0">
                <a:solidFill>
                  <a:srgbClr val="9AA3B5"/>
                </a:solidFill>
                <a:latin typeface="Calibri" pitchFamily="34" charset="0"/>
                <a:ea typeface="Calibri" pitchFamily="34" charset="-122"/>
                <a:cs typeface="Calibri" pitchFamily="34" charset="-120"/>
              </a:rPr>
              <a:t>Saves valuable hours of physician time, significantly reducing hospital operating costs.</a:t>
            </a:r>
            <a:endParaRPr lang="en-US" sz="1200" dirty="0"/>
          </a:p>
        </p:txBody>
      </p:sp>
      <p:sp>
        <p:nvSpPr>
          <p:cNvPr id="23" name="Shape 6">
            <a:extLst>
              <a:ext uri="{FF2B5EF4-FFF2-40B4-BE49-F238E27FC236}">
                <a16:creationId xmlns:a16="http://schemas.microsoft.com/office/drawing/2014/main" id="{F4B37ED1-152C-D05E-DD07-A26CCF63EC34}"/>
              </a:ext>
            </a:extLst>
          </p:cNvPr>
          <p:cNvSpPr/>
          <p:nvPr/>
        </p:nvSpPr>
        <p:spPr>
          <a:xfrm>
            <a:off x="4480560" y="1874520"/>
            <a:ext cx="3520440" cy="4023360"/>
          </a:xfrm>
          <a:prstGeom prst="roundRect">
            <a:avLst>
              <a:gd name="adj" fmla="val 4156"/>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24" name="Shape 7">
            <a:extLst>
              <a:ext uri="{FF2B5EF4-FFF2-40B4-BE49-F238E27FC236}">
                <a16:creationId xmlns:a16="http://schemas.microsoft.com/office/drawing/2014/main" id="{6995554A-972C-A426-4538-F656357DAD35}"/>
              </a:ext>
            </a:extLst>
          </p:cNvPr>
          <p:cNvSpPr/>
          <p:nvPr/>
        </p:nvSpPr>
        <p:spPr>
          <a:xfrm>
            <a:off x="5783580" y="2286000"/>
            <a:ext cx="914400" cy="914400"/>
          </a:xfrm>
          <a:prstGeom prst="ellipse">
            <a:avLst/>
          </a:prstGeom>
          <a:solidFill>
            <a:srgbClr val="22C55E"/>
          </a:solidFill>
          <a:ln/>
        </p:spPr>
      </p:sp>
      <p:pic>
        <p:nvPicPr>
          <p:cNvPr id="25" name="Image 1" descr="icon_shield.png">
            <a:extLst>
              <a:ext uri="{FF2B5EF4-FFF2-40B4-BE49-F238E27FC236}">
                <a16:creationId xmlns:a16="http://schemas.microsoft.com/office/drawing/2014/main" id="{E136E227-69E0-82A1-CBF8-B496142CCAE3}"/>
              </a:ext>
            </a:extLst>
          </p:cNvPr>
          <p:cNvPicPr>
            <a:picLocks noChangeAspect="1"/>
          </p:cNvPicPr>
          <p:nvPr/>
        </p:nvPicPr>
        <p:blipFill>
          <a:blip r:embed="rId4"/>
          <a:stretch>
            <a:fillRect/>
          </a:stretch>
        </p:blipFill>
        <p:spPr>
          <a:xfrm>
            <a:off x="6003036" y="2505456"/>
            <a:ext cx="475488" cy="475488"/>
          </a:xfrm>
          <a:prstGeom prst="rect">
            <a:avLst/>
          </a:prstGeom>
        </p:spPr>
      </p:pic>
      <p:sp>
        <p:nvSpPr>
          <p:cNvPr id="26" name="Text 8">
            <a:extLst>
              <a:ext uri="{FF2B5EF4-FFF2-40B4-BE49-F238E27FC236}">
                <a16:creationId xmlns:a16="http://schemas.microsoft.com/office/drawing/2014/main" id="{60E1C33D-D4E2-74CA-8A86-4FF132EFD406}"/>
              </a:ext>
            </a:extLst>
          </p:cNvPr>
          <p:cNvSpPr/>
          <p:nvPr/>
        </p:nvSpPr>
        <p:spPr>
          <a:xfrm>
            <a:off x="4709160" y="3383280"/>
            <a:ext cx="3063240" cy="548640"/>
          </a:xfrm>
          <a:prstGeom prst="rect">
            <a:avLst/>
          </a:prstGeom>
          <a:noFill/>
          <a:ln/>
        </p:spPr>
        <p:txBody>
          <a:bodyPr wrap="square" lIns="0" tIns="0" rIns="0" bIns="0" rtlCol="0" anchor="ctr"/>
          <a:lstStyle/>
          <a:p>
            <a:pPr marL="0" indent="0" algn="ctr">
              <a:buNone/>
            </a:pPr>
            <a:r>
              <a:rPr lang="en-US" sz="1600" b="1" dirty="0">
                <a:solidFill>
                  <a:srgbClr val="F5F6FA"/>
                </a:solidFill>
                <a:latin typeface="Calibri" pitchFamily="34" charset="0"/>
                <a:ea typeface="Calibri" pitchFamily="34" charset="-122"/>
                <a:cs typeface="Calibri" pitchFamily="34" charset="-120"/>
              </a:rPr>
              <a:t>Patient Safety</a:t>
            </a:r>
            <a:endParaRPr lang="en-US" sz="1600" dirty="0"/>
          </a:p>
        </p:txBody>
      </p:sp>
      <p:sp>
        <p:nvSpPr>
          <p:cNvPr id="27" name="Text 9">
            <a:extLst>
              <a:ext uri="{FF2B5EF4-FFF2-40B4-BE49-F238E27FC236}">
                <a16:creationId xmlns:a16="http://schemas.microsoft.com/office/drawing/2014/main" id="{BF8F30F8-BB30-347D-4A65-F53882DFED6F}"/>
              </a:ext>
            </a:extLst>
          </p:cNvPr>
          <p:cNvSpPr/>
          <p:nvPr/>
        </p:nvSpPr>
        <p:spPr>
          <a:xfrm>
            <a:off x="4800600" y="4023360"/>
            <a:ext cx="2880360" cy="1554480"/>
          </a:xfrm>
          <a:prstGeom prst="rect">
            <a:avLst/>
          </a:prstGeom>
          <a:noFill/>
          <a:ln/>
        </p:spPr>
        <p:txBody>
          <a:bodyPr wrap="square" lIns="0" tIns="0" rIns="0" bIns="0" rtlCol="0" anchor="ctr"/>
          <a:lstStyle/>
          <a:p>
            <a:pPr marL="0" indent="0" algn="ctr">
              <a:lnSpc>
                <a:spcPct val="125000"/>
              </a:lnSpc>
              <a:buNone/>
            </a:pPr>
            <a:r>
              <a:rPr lang="en-US" sz="1200" dirty="0">
                <a:solidFill>
                  <a:srgbClr val="9AA3B5"/>
                </a:solidFill>
                <a:latin typeface="Calibri" pitchFamily="34" charset="0"/>
                <a:ea typeface="Calibri" pitchFamily="34" charset="-122"/>
                <a:cs typeface="Calibri" pitchFamily="34" charset="-120"/>
              </a:rPr>
              <a:t>By maximizing Recall and minimizing False Negatives, the system ensures critical neurological emergencies are never overlooked.</a:t>
            </a:r>
            <a:endParaRPr lang="en-US" sz="1200" dirty="0"/>
          </a:p>
        </p:txBody>
      </p:sp>
      <p:sp>
        <p:nvSpPr>
          <p:cNvPr id="28" name="Shape 10">
            <a:extLst>
              <a:ext uri="{FF2B5EF4-FFF2-40B4-BE49-F238E27FC236}">
                <a16:creationId xmlns:a16="http://schemas.microsoft.com/office/drawing/2014/main" id="{4E845510-6B4E-A2D8-518B-40FFE0522B8A}"/>
              </a:ext>
            </a:extLst>
          </p:cNvPr>
          <p:cNvSpPr/>
          <p:nvPr/>
        </p:nvSpPr>
        <p:spPr>
          <a:xfrm>
            <a:off x="8366760" y="1874520"/>
            <a:ext cx="3520440" cy="4023360"/>
          </a:xfrm>
          <a:prstGeom prst="roundRect">
            <a:avLst>
              <a:gd name="adj" fmla="val 4156"/>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29" name="Shape 11">
            <a:extLst>
              <a:ext uri="{FF2B5EF4-FFF2-40B4-BE49-F238E27FC236}">
                <a16:creationId xmlns:a16="http://schemas.microsoft.com/office/drawing/2014/main" id="{9C8A0F2F-B14D-102C-82F5-AE8EED71B38D}"/>
              </a:ext>
            </a:extLst>
          </p:cNvPr>
          <p:cNvSpPr/>
          <p:nvPr/>
        </p:nvSpPr>
        <p:spPr>
          <a:xfrm>
            <a:off x="9669780" y="2286000"/>
            <a:ext cx="914400" cy="914400"/>
          </a:xfrm>
          <a:prstGeom prst="ellipse">
            <a:avLst/>
          </a:prstGeom>
          <a:solidFill>
            <a:srgbClr val="EF4444"/>
          </a:solidFill>
          <a:ln/>
        </p:spPr>
      </p:sp>
      <p:pic>
        <p:nvPicPr>
          <p:cNvPr id="30" name="Image 2" descr="icon_hospital.png">
            <a:extLst>
              <a:ext uri="{FF2B5EF4-FFF2-40B4-BE49-F238E27FC236}">
                <a16:creationId xmlns:a16="http://schemas.microsoft.com/office/drawing/2014/main" id="{D5D44914-A8B6-0859-6228-D5D5AFFFA5A0}"/>
              </a:ext>
            </a:extLst>
          </p:cNvPr>
          <p:cNvPicPr>
            <a:picLocks noChangeAspect="1"/>
          </p:cNvPicPr>
          <p:nvPr/>
        </p:nvPicPr>
        <p:blipFill>
          <a:blip r:embed="rId5"/>
          <a:stretch>
            <a:fillRect/>
          </a:stretch>
        </p:blipFill>
        <p:spPr>
          <a:xfrm>
            <a:off x="9889236" y="2505456"/>
            <a:ext cx="475488" cy="475488"/>
          </a:xfrm>
          <a:prstGeom prst="rect">
            <a:avLst/>
          </a:prstGeom>
        </p:spPr>
      </p:pic>
      <p:sp>
        <p:nvSpPr>
          <p:cNvPr id="31" name="Text 12">
            <a:extLst>
              <a:ext uri="{FF2B5EF4-FFF2-40B4-BE49-F238E27FC236}">
                <a16:creationId xmlns:a16="http://schemas.microsoft.com/office/drawing/2014/main" id="{60B3EDC7-12AC-706A-33BF-A0647D16F8EF}"/>
              </a:ext>
            </a:extLst>
          </p:cNvPr>
          <p:cNvSpPr/>
          <p:nvPr/>
        </p:nvSpPr>
        <p:spPr>
          <a:xfrm>
            <a:off x="8595360" y="3383280"/>
            <a:ext cx="3063240" cy="548640"/>
          </a:xfrm>
          <a:prstGeom prst="rect">
            <a:avLst/>
          </a:prstGeom>
          <a:noFill/>
          <a:ln/>
        </p:spPr>
        <p:txBody>
          <a:bodyPr wrap="square" lIns="0" tIns="0" rIns="0" bIns="0" rtlCol="0" anchor="ctr"/>
          <a:lstStyle/>
          <a:p>
            <a:pPr marL="0" indent="0" algn="ctr">
              <a:buNone/>
            </a:pPr>
            <a:r>
              <a:rPr lang="en-US" sz="1600" b="1" dirty="0">
                <a:solidFill>
                  <a:srgbClr val="F5F6FA"/>
                </a:solidFill>
                <a:latin typeface="Calibri" pitchFamily="34" charset="0"/>
                <a:ea typeface="Calibri" pitchFamily="34" charset="-122"/>
                <a:cs typeface="Calibri" pitchFamily="34" charset="-120"/>
              </a:rPr>
              <a:t>Workflow Transformation</a:t>
            </a:r>
            <a:endParaRPr lang="en-US" sz="1600" dirty="0"/>
          </a:p>
        </p:txBody>
      </p:sp>
      <p:sp>
        <p:nvSpPr>
          <p:cNvPr id="32" name="Text 13">
            <a:extLst>
              <a:ext uri="{FF2B5EF4-FFF2-40B4-BE49-F238E27FC236}">
                <a16:creationId xmlns:a16="http://schemas.microsoft.com/office/drawing/2014/main" id="{680CB9AE-885C-58B4-4BCF-99FF4BFD3AE4}"/>
              </a:ext>
            </a:extLst>
          </p:cNvPr>
          <p:cNvSpPr/>
          <p:nvPr/>
        </p:nvSpPr>
        <p:spPr>
          <a:xfrm>
            <a:off x="8686800" y="4023360"/>
            <a:ext cx="2880360" cy="1554480"/>
          </a:xfrm>
          <a:prstGeom prst="rect">
            <a:avLst/>
          </a:prstGeom>
          <a:noFill/>
          <a:ln/>
        </p:spPr>
        <p:txBody>
          <a:bodyPr wrap="square" lIns="0" tIns="0" rIns="0" bIns="0" rtlCol="0" anchor="ctr"/>
          <a:lstStyle/>
          <a:p>
            <a:pPr marL="0" indent="0" algn="ctr">
              <a:lnSpc>
                <a:spcPct val="125000"/>
              </a:lnSpc>
              <a:buNone/>
            </a:pPr>
            <a:r>
              <a:rPr lang="en-US" sz="1200" dirty="0">
                <a:solidFill>
                  <a:srgbClr val="9AA3B5"/>
                </a:solidFill>
                <a:latin typeface="Calibri" pitchFamily="34" charset="0"/>
                <a:ea typeface="Calibri" pitchFamily="34" charset="-122"/>
                <a:cs typeface="Calibri" pitchFamily="34" charset="-120"/>
              </a:rPr>
              <a:t>Transitions Intensive Care Units (ICUs) from manual scrolling to automated, real-time triage.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200" dirty="0">
                <a:solidFill>
                  <a:srgbClr val="8B5CF6"/>
                </a:solidFill>
                <a:latin typeface="Calibri" pitchFamily="34" charset="0"/>
                <a:ea typeface="Calibri" pitchFamily="34" charset="-122"/>
                <a:cs typeface="Calibri" pitchFamily="34" charset="-120"/>
              </a:rPr>
              <a:t>FURTHER IMPROVEMENT AREAS / NEXT STEPS</a:t>
            </a:r>
            <a:endParaRPr lang="en-US" sz="1200" dirty="0"/>
          </a:p>
        </p:txBody>
      </p:sp>
      <p:sp>
        <p:nvSpPr>
          <p:cNvPr id="3" name="Text 1"/>
          <p:cNvSpPr/>
          <p:nvPr/>
        </p:nvSpPr>
        <p:spPr>
          <a:xfrm>
            <a:off x="548640" y="676656"/>
            <a:ext cx="10789920" cy="777240"/>
          </a:xfrm>
          <a:prstGeom prst="rect">
            <a:avLst/>
          </a:prstGeom>
          <a:noFill/>
          <a:ln/>
        </p:spPr>
        <p:txBody>
          <a:bodyPr wrap="square" lIns="0" tIns="0" rIns="0" bIns="0" rtlCol="0" anchor="ctr"/>
          <a:lstStyle/>
          <a:p>
            <a:pPr marL="0" indent="0">
              <a:buNone/>
            </a:pPr>
            <a:r>
              <a:rPr lang="en-US" sz="3000" b="1" dirty="0">
                <a:solidFill>
                  <a:srgbClr val="F5F6FA"/>
                </a:solidFill>
                <a:latin typeface="Cambria" pitchFamily="34" charset="0"/>
                <a:ea typeface="Cambria" pitchFamily="34" charset="-122"/>
                <a:cs typeface="Cambria" pitchFamily="34" charset="-120"/>
              </a:rPr>
              <a:t>Future Scope &amp; Scalability</a:t>
            </a:r>
            <a:endParaRPr lang="en-US" sz="3000" dirty="0"/>
          </a:p>
        </p:txBody>
      </p:sp>
      <p:sp>
        <p:nvSpPr>
          <p:cNvPr id="4" name="Shape 2"/>
          <p:cNvSpPr/>
          <p:nvPr/>
        </p:nvSpPr>
        <p:spPr>
          <a:xfrm>
            <a:off x="548640" y="1600200"/>
            <a:ext cx="5349240" cy="2148840"/>
          </a:xfrm>
          <a:prstGeom prst="roundRect">
            <a:avLst>
              <a:gd name="adj" fmla="val 5957"/>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5" name="Shape 3"/>
          <p:cNvSpPr/>
          <p:nvPr/>
        </p:nvSpPr>
        <p:spPr>
          <a:xfrm>
            <a:off x="850392" y="1837944"/>
            <a:ext cx="530352" cy="530352"/>
          </a:xfrm>
          <a:prstGeom prst="ellipse">
            <a:avLst/>
          </a:prstGeom>
          <a:solidFill>
            <a:srgbClr val="8B5CF6"/>
          </a:solidFill>
          <a:ln/>
        </p:spPr>
      </p:sp>
      <p:pic>
        <p:nvPicPr>
          <p:cNvPr id="6" name="Image 0" descr="icon_networkWired.png"/>
          <p:cNvPicPr>
            <a:picLocks noChangeAspect="1"/>
          </p:cNvPicPr>
          <p:nvPr/>
        </p:nvPicPr>
        <p:blipFill>
          <a:blip r:embed="rId3"/>
          <a:stretch>
            <a:fillRect/>
          </a:stretch>
        </p:blipFill>
        <p:spPr>
          <a:xfrm>
            <a:off x="977676" y="1965228"/>
            <a:ext cx="275783" cy="275783"/>
          </a:xfrm>
          <a:prstGeom prst="rect">
            <a:avLst/>
          </a:prstGeom>
        </p:spPr>
      </p:pic>
      <p:sp>
        <p:nvSpPr>
          <p:cNvPr id="7" name="Text 4"/>
          <p:cNvSpPr/>
          <p:nvPr/>
        </p:nvSpPr>
        <p:spPr>
          <a:xfrm>
            <a:off x="1508760" y="1801368"/>
            <a:ext cx="4114800" cy="594360"/>
          </a:xfrm>
          <a:prstGeom prst="rect">
            <a:avLst/>
          </a:prstGeom>
          <a:noFill/>
          <a:ln/>
        </p:spPr>
        <p:txBody>
          <a:bodyPr wrap="square" lIns="0" tIns="0" rIns="0" bIns="0" rtlCol="0" anchor="ctr"/>
          <a:lstStyle/>
          <a:p>
            <a:pPr marL="0" indent="0">
              <a:buNone/>
            </a:pPr>
            <a:r>
              <a:rPr lang="en-US" sz="1450" b="1" dirty="0">
                <a:solidFill>
                  <a:srgbClr val="F5F6FA"/>
                </a:solidFill>
                <a:latin typeface="Calibri" pitchFamily="34" charset="0"/>
                <a:ea typeface="Calibri" pitchFamily="34" charset="-122"/>
                <a:cs typeface="Calibri" pitchFamily="34" charset="-120"/>
              </a:rPr>
              <a:t>Live IoT Integration</a:t>
            </a:r>
            <a:endParaRPr lang="en-US" sz="1450" dirty="0"/>
          </a:p>
        </p:txBody>
      </p:sp>
      <p:sp>
        <p:nvSpPr>
          <p:cNvPr id="8" name="Text 5"/>
          <p:cNvSpPr/>
          <p:nvPr/>
        </p:nvSpPr>
        <p:spPr>
          <a:xfrm>
            <a:off x="868680" y="2496312"/>
            <a:ext cx="4709160" cy="1033272"/>
          </a:xfrm>
          <a:prstGeom prst="rect">
            <a:avLst/>
          </a:prstGeom>
          <a:noFill/>
          <a:ln/>
        </p:spPr>
        <p:txBody>
          <a:bodyPr wrap="square" lIns="0" tIns="0" rIns="0" bIns="0" rtlCol="0" anchor="t"/>
          <a:lstStyle/>
          <a:p>
            <a:pPr marL="0" indent="0">
              <a:lnSpc>
                <a:spcPct val="118000"/>
              </a:lnSpc>
              <a:buNone/>
            </a:pPr>
            <a:r>
              <a:rPr lang="en-US" sz="1100" dirty="0">
                <a:solidFill>
                  <a:srgbClr val="9AA3B5"/>
                </a:solidFill>
                <a:latin typeface="Calibri" pitchFamily="34" charset="0"/>
                <a:ea typeface="Calibri" pitchFamily="34" charset="-122"/>
                <a:cs typeface="Calibri" pitchFamily="34" charset="-120"/>
              </a:rPr>
              <a:t>Upgrade the ingestion pipeline to support live WebSocket streaming directly from hospital IoT EEG caps.</a:t>
            </a:r>
            <a:endParaRPr lang="en-US" sz="1100" dirty="0"/>
          </a:p>
        </p:txBody>
      </p:sp>
      <p:sp>
        <p:nvSpPr>
          <p:cNvPr id="9" name="Shape 6"/>
          <p:cNvSpPr/>
          <p:nvPr/>
        </p:nvSpPr>
        <p:spPr>
          <a:xfrm>
            <a:off x="6217920" y="1600200"/>
            <a:ext cx="5349240" cy="2148840"/>
          </a:xfrm>
          <a:prstGeom prst="roundRect">
            <a:avLst>
              <a:gd name="adj" fmla="val 5957"/>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10" name="Shape 7"/>
          <p:cNvSpPr/>
          <p:nvPr/>
        </p:nvSpPr>
        <p:spPr>
          <a:xfrm>
            <a:off x="6519672" y="1837944"/>
            <a:ext cx="530352" cy="530352"/>
          </a:xfrm>
          <a:prstGeom prst="ellipse">
            <a:avLst/>
          </a:prstGeom>
          <a:solidFill>
            <a:srgbClr val="8B5CF6"/>
          </a:solidFill>
          <a:ln/>
        </p:spPr>
      </p:sp>
      <p:pic>
        <p:nvPicPr>
          <p:cNvPr id="11" name="Image 1" descr="icon_fileWaveform.png"/>
          <p:cNvPicPr>
            <a:picLocks noChangeAspect="1"/>
          </p:cNvPicPr>
          <p:nvPr/>
        </p:nvPicPr>
        <p:blipFill>
          <a:blip r:embed="rId4"/>
          <a:stretch>
            <a:fillRect/>
          </a:stretch>
        </p:blipFill>
        <p:spPr>
          <a:xfrm>
            <a:off x="6646956" y="1965228"/>
            <a:ext cx="275783" cy="275783"/>
          </a:xfrm>
          <a:prstGeom prst="rect">
            <a:avLst/>
          </a:prstGeom>
        </p:spPr>
      </p:pic>
      <p:sp>
        <p:nvSpPr>
          <p:cNvPr id="12" name="Text 8"/>
          <p:cNvSpPr/>
          <p:nvPr/>
        </p:nvSpPr>
        <p:spPr>
          <a:xfrm>
            <a:off x="7178040" y="1801368"/>
            <a:ext cx="4114800" cy="594360"/>
          </a:xfrm>
          <a:prstGeom prst="rect">
            <a:avLst/>
          </a:prstGeom>
          <a:noFill/>
          <a:ln/>
        </p:spPr>
        <p:txBody>
          <a:bodyPr wrap="square" lIns="0" tIns="0" rIns="0" bIns="0" rtlCol="0" anchor="ctr"/>
          <a:lstStyle/>
          <a:p>
            <a:pPr marL="0" indent="0">
              <a:buNone/>
            </a:pPr>
            <a:r>
              <a:rPr lang="en-US" sz="1450" b="1" dirty="0">
                <a:solidFill>
                  <a:srgbClr val="F5F6FA"/>
                </a:solidFill>
                <a:latin typeface="Calibri" pitchFamily="34" charset="0"/>
                <a:ea typeface="Calibri" pitchFamily="34" charset="-122"/>
                <a:cs typeface="Calibri" pitchFamily="34" charset="-120"/>
              </a:rPr>
              <a:t>EDF Medical Standard Integration</a:t>
            </a:r>
            <a:endParaRPr lang="en-US" sz="1450" dirty="0"/>
          </a:p>
        </p:txBody>
      </p:sp>
      <p:sp>
        <p:nvSpPr>
          <p:cNvPr id="13" name="Text 9"/>
          <p:cNvSpPr/>
          <p:nvPr/>
        </p:nvSpPr>
        <p:spPr>
          <a:xfrm>
            <a:off x="6537960" y="2496312"/>
            <a:ext cx="4709160" cy="1033272"/>
          </a:xfrm>
          <a:prstGeom prst="rect">
            <a:avLst/>
          </a:prstGeom>
          <a:noFill/>
          <a:ln/>
        </p:spPr>
        <p:txBody>
          <a:bodyPr wrap="square" lIns="0" tIns="0" rIns="0" bIns="0" rtlCol="0" anchor="t"/>
          <a:lstStyle/>
          <a:p>
            <a:pPr marL="0" indent="0">
              <a:lnSpc>
                <a:spcPct val="118000"/>
              </a:lnSpc>
              <a:buNone/>
            </a:pPr>
            <a:r>
              <a:rPr lang="en-US" sz="1100" dirty="0">
                <a:solidFill>
                  <a:srgbClr val="9AA3B5"/>
                </a:solidFill>
                <a:latin typeface="Calibri" pitchFamily="34" charset="0"/>
                <a:ea typeface="Calibri" pitchFamily="34" charset="-122"/>
                <a:cs typeface="Calibri" pitchFamily="34" charset="-120"/>
              </a:rPr>
              <a:t>Future iterations will support direct uploads of the standard European Data Format (.edf). This was intentionally excluded from the current prototype to prevent pipeline complexity and maintain focus on the core predictive engine, but it is the logical next step for true hospital interoperability.</a:t>
            </a:r>
            <a:endParaRPr lang="en-US" sz="1100" dirty="0"/>
          </a:p>
        </p:txBody>
      </p:sp>
      <p:sp>
        <p:nvSpPr>
          <p:cNvPr id="14" name="Shape 10"/>
          <p:cNvSpPr/>
          <p:nvPr/>
        </p:nvSpPr>
        <p:spPr>
          <a:xfrm>
            <a:off x="548640" y="4023360"/>
            <a:ext cx="5349240" cy="2148840"/>
          </a:xfrm>
          <a:prstGeom prst="roundRect">
            <a:avLst>
              <a:gd name="adj" fmla="val 5957"/>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15" name="Shape 11"/>
          <p:cNvSpPr/>
          <p:nvPr/>
        </p:nvSpPr>
        <p:spPr>
          <a:xfrm>
            <a:off x="850392" y="4261104"/>
            <a:ext cx="530352" cy="530352"/>
          </a:xfrm>
          <a:prstGeom prst="ellipse">
            <a:avLst/>
          </a:prstGeom>
          <a:solidFill>
            <a:srgbClr val="8B5CF6"/>
          </a:solidFill>
          <a:ln/>
        </p:spPr>
      </p:sp>
      <p:pic>
        <p:nvPicPr>
          <p:cNvPr id="16" name="Image 2" descr="icon_brain_wave.png"/>
          <p:cNvPicPr>
            <a:picLocks noChangeAspect="1"/>
          </p:cNvPicPr>
          <p:nvPr/>
        </p:nvPicPr>
        <p:blipFill>
          <a:blip r:embed="rId5"/>
          <a:stretch>
            <a:fillRect/>
          </a:stretch>
        </p:blipFill>
        <p:spPr>
          <a:xfrm>
            <a:off x="977676" y="4388388"/>
            <a:ext cx="275783" cy="275783"/>
          </a:xfrm>
          <a:prstGeom prst="rect">
            <a:avLst/>
          </a:prstGeom>
        </p:spPr>
      </p:pic>
      <p:sp>
        <p:nvSpPr>
          <p:cNvPr id="17" name="Text 12"/>
          <p:cNvSpPr/>
          <p:nvPr/>
        </p:nvSpPr>
        <p:spPr>
          <a:xfrm>
            <a:off x="1508760" y="4224528"/>
            <a:ext cx="4114800" cy="594360"/>
          </a:xfrm>
          <a:prstGeom prst="rect">
            <a:avLst/>
          </a:prstGeom>
          <a:noFill/>
          <a:ln/>
        </p:spPr>
        <p:txBody>
          <a:bodyPr wrap="square" lIns="0" tIns="0" rIns="0" bIns="0" rtlCol="0" anchor="ctr"/>
          <a:lstStyle/>
          <a:p>
            <a:pPr marL="0" indent="0">
              <a:buNone/>
            </a:pPr>
            <a:r>
              <a:rPr lang="en-US" sz="1450" b="1" dirty="0">
                <a:solidFill>
                  <a:srgbClr val="F5F6FA"/>
                </a:solidFill>
                <a:latin typeface="Calibri" pitchFamily="34" charset="0"/>
                <a:ea typeface="Calibri" pitchFamily="34" charset="-122"/>
                <a:cs typeface="Calibri" pitchFamily="34" charset="-120"/>
              </a:rPr>
              <a:t>Multi-Class Diagnostics</a:t>
            </a:r>
            <a:endParaRPr lang="en-US" sz="1450" dirty="0"/>
          </a:p>
        </p:txBody>
      </p:sp>
      <p:sp>
        <p:nvSpPr>
          <p:cNvPr id="18" name="Text 13"/>
          <p:cNvSpPr/>
          <p:nvPr/>
        </p:nvSpPr>
        <p:spPr>
          <a:xfrm>
            <a:off x="868680" y="4919472"/>
            <a:ext cx="4709160" cy="1033272"/>
          </a:xfrm>
          <a:prstGeom prst="rect">
            <a:avLst/>
          </a:prstGeom>
          <a:noFill/>
          <a:ln/>
        </p:spPr>
        <p:txBody>
          <a:bodyPr wrap="square" lIns="0" tIns="0" rIns="0" bIns="0" rtlCol="0" anchor="t"/>
          <a:lstStyle/>
          <a:p>
            <a:pPr marL="0" indent="0">
              <a:lnSpc>
                <a:spcPct val="118000"/>
              </a:lnSpc>
              <a:buNone/>
            </a:pPr>
            <a:r>
              <a:rPr lang="en-US" sz="1100" dirty="0">
                <a:solidFill>
                  <a:srgbClr val="9AA3B5"/>
                </a:solidFill>
                <a:latin typeface="Calibri" pitchFamily="34" charset="0"/>
                <a:ea typeface="Calibri" pitchFamily="34" charset="-122"/>
                <a:cs typeface="Calibri" pitchFamily="34" charset="-120"/>
              </a:rPr>
              <a:t>Expand the model's capabilities to classify specific seizure subtypes, e.g., Grand Mal vs. Petit Mal.</a:t>
            </a:r>
            <a:endParaRPr lang="en-US" sz="1100" dirty="0"/>
          </a:p>
        </p:txBody>
      </p:sp>
      <p:sp>
        <p:nvSpPr>
          <p:cNvPr id="19" name="Shape 14"/>
          <p:cNvSpPr/>
          <p:nvPr/>
        </p:nvSpPr>
        <p:spPr>
          <a:xfrm>
            <a:off x="6217920" y="4023360"/>
            <a:ext cx="5349240" cy="2148840"/>
          </a:xfrm>
          <a:prstGeom prst="roundRect">
            <a:avLst>
              <a:gd name="adj" fmla="val 5957"/>
            </a:avLst>
          </a:prstGeom>
          <a:solidFill>
            <a:srgbClr val="141B2E"/>
          </a:solidFill>
          <a:ln w="12700">
            <a:solidFill>
              <a:srgbClr val="232B45"/>
            </a:solidFill>
            <a:prstDash val="solid"/>
          </a:ln>
          <a:effectLst>
            <a:outerShdw blurRad="101600" dist="38100" dir="5400000" algn="bl" rotWithShape="0">
              <a:srgbClr val="000000">
                <a:alpha val="35000"/>
              </a:srgbClr>
            </a:outerShdw>
          </a:effectLst>
        </p:spPr>
      </p:sp>
      <p:sp>
        <p:nvSpPr>
          <p:cNvPr id="20" name="Shape 15"/>
          <p:cNvSpPr/>
          <p:nvPr/>
        </p:nvSpPr>
        <p:spPr>
          <a:xfrm>
            <a:off x="6519672" y="4261104"/>
            <a:ext cx="530352" cy="530352"/>
          </a:xfrm>
          <a:prstGeom prst="ellipse">
            <a:avLst/>
          </a:prstGeom>
          <a:solidFill>
            <a:srgbClr val="8B5CF6"/>
          </a:solidFill>
          <a:ln/>
        </p:spPr>
      </p:sp>
      <p:pic>
        <p:nvPicPr>
          <p:cNvPr id="21" name="Image 3" descr="icon_server.png"/>
          <p:cNvPicPr>
            <a:picLocks noChangeAspect="1"/>
          </p:cNvPicPr>
          <p:nvPr/>
        </p:nvPicPr>
        <p:blipFill>
          <a:blip r:embed="rId6"/>
          <a:stretch>
            <a:fillRect/>
          </a:stretch>
        </p:blipFill>
        <p:spPr>
          <a:xfrm>
            <a:off x="6646956" y="4388388"/>
            <a:ext cx="275783" cy="275783"/>
          </a:xfrm>
          <a:prstGeom prst="rect">
            <a:avLst/>
          </a:prstGeom>
        </p:spPr>
      </p:pic>
      <p:sp>
        <p:nvSpPr>
          <p:cNvPr id="22" name="Text 16"/>
          <p:cNvSpPr/>
          <p:nvPr/>
        </p:nvSpPr>
        <p:spPr>
          <a:xfrm>
            <a:off x="7178040" y="4224528"/>
            <a:ext cx="4114800" cy="594360"/>
          </a:xfrm>
          <a:prstGeom prst="rect">
            <a:avLst/>
          </a:prstGeom>
          <a:noFill/>
          <a:ln/>
        </p:spPr>
        <p:txBody>
          <a:bodyPr wrap="square" lIns="0" tIns="0" rIns="0" bIns="0" rtlCol="0" anchor="ctr"/>
          <a:lstStyle/>
          <a:p>
            <a:pPr marL="0" indent="0">
              <a:buNone/>
            </a:pPr>
            <a:r>
              <a:rPr lang="en-US" sz="1450" b="1" dirty="0">
                <a:solidFill>
                  <a:srgbClr val="F5F6FA"/>
                </a:solidFill>
                <a:latin typeface="Calibri" pitchFamily="34" charset="0"/>
                <a:ea typeface="Calibri" pitchFamily="34" charset="-122"/>
                <a:cs typeface="Calibri" pitchFamily="34" charset="-120"/>
              </a:rPr>
              <a:t>Enterprise Architecture</a:t>
            </a:r>
            <a:endParaRPr lang="en-US" sz="1450" dirty="0"/>
          </a:p>
        </p:txBody>
      </p:sp>
      <p:sp>
        <p:nvSpPr>
          <p:cNvPr id="23" name="Text 17"/>
          <p:cNvSpPr/>
          <p:nvPr/>
        </p:nvSpPr>
        <p:spPr>
          <a:xfrm>
            <a:off x="6537960" y="4919472"/>
            <a:ext cx="4709160" cy="1033272"/>
          </a:xfrm>
          <a:prstGeom prst="rect">
            <a:avLst/>
          </a:prstGeom>
          <a:noFill/>
          <a:ln/>
        </p:spPr>
        <p:txBody>
          <a:bodyPr wrap="square" lIns="0" tIns="0" rIns="0" bIns="0" rtlCol="0" anchor="t"/>
          <a:lstStyle/>
          <a:p>
            <a:pPr marL="0" indent="0">
              <a:lnSpc>
                <a:spcPct val="118000"/>
              </a:lnSpc>
              <a:buNone/>
            </a:pPr>
            <a:r>
              <a:rPr lang="en-US" sz="1100" dirty="0">
                <a:solidFill>
                  <a:srgbClr val="9AA3B5"/>
                </a:solidFill>
                <a:latin typeface="Calibri" pitchFamily="34" charset="0"/>
                <a:ea typeface="Calibri" pitchFamily="34" charset="-122"/>
                <a:cs typeface="Calibri" pitchFamily="34" charset="-120"/>
              </a:rPr>
              <a:t>Scale the AWS backend using a Gunicorn and Nginx cluster to support multi-hospital, high-traffic deployment.</a:t>
            </a:r>
            <a:endParaRPr lang="en-US" sz="11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{D8DD2ACC-1476-3645-8ED3-9F05A5716F65}TFc566aa0b-6b9d-4b42-b0ad-9ea4aec0ae63248328a8-9da4c62369fb</Template>
  <TotalTime>30</TotalTime>
  <Words>585</Words>
  <Application>Microsoft Macintosh PowerPoint</Application>
  <PresentationFormat>Widescreen</PresentationFormat>
  <Paragraphs>67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Cambria</vt:lpstr>
      <vt:lpstr>Celestial</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2</cp:revision>
  <dcterms:created xsi:type="dcterms:W3CDTF">2026-08-06T05:15:29Z</dcterms:created>
  <dcterms:modified xsi:type="dcterms:W3CDTF">2026-08-06T05:47:53Z</dcterms:modified>
</cp:coreProperties>
</file>