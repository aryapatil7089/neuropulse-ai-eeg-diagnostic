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>
        <p:scale>
          <a:sx n="118" d="100"/>
          <a:sy n="118" d="100"/>
        </p:scale>
        <p:origin x="3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5284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Bottleneck in Epilepsy Diagnosis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16836"/>
            <a:ext cx="658368" cy="658368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5" name="Image 0" descr="icon_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44" y="2274844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562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Overload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22199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EEG monitoring generates massive, multi-hour files containing millions of raw data points per patient.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0936" y="3534156"/>
            <a:ext cx="658368" cy="65836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9" name="Image 1" descr="icon_doctor_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944" y="3692164"/>
            <a:ext cx="342351" cy="3423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2735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Fatigue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63931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Neurologists suffer severe diagnostic fatigue manually scrolling to locate brief 5-10 second seizure events.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30936" y="4951476"/>
            <a:ext cx="658368" cy="658368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13" name="Image 2" descr="icon_triangleExcla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944" y="5109484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6908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505663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manual workflow creates a dangerous bottleneck, increasing human error and delaying emergency triage.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086600" y="1417320"/>
            <a:ext cx="4572000" cy="4937760"/>
          </a:xfrm>
          <a:prstGeom prst="roundRect">
            <a:avLst>
              <a:gd name="adj" fmla="val 3000"/>
            </a:avLst>
          </a:prstGeom>
          <a:solidFill>
            <a:srgbClr val="141B2E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7086600" y="1673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MULTI-CHANNEL EEG SIGNAL</a:t>
            </a:r>
            <a:endParaRPr lang="en-US" sz="1100" dirty="0"/>
          </a:p>
        </p:txBody>
      </p:sp>
      <p:pic>
        <p:nvPicPr>
          <p:cNvPr id="18" name="Image 3" descr="messy_ee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2103120"/>
            <a:ext cx="3749040" cy="30617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06640" y="54864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 hides in seconds of signal like this, buried across hours of recording to avoid this risk Neuro Pulse AI will help us.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SOLUTION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Processing &amp; Data Engineering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700784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5" name="Image 0" descr="icon_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79" y="1836847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6916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325880" y="20116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clinical 178 Hz continuous EEG data from the University of Bonn.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85216" y="2871216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9" name="Image 1" descr="icon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79" y="3007279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8620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Engineering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325880" y="318211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the original 5 clinical classes into a strict binary target: Seizure (1) vs. Non-Seizure (0).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5216" y="4041648"/>
            <a:ext cx="566928" cy="566928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13" name="Image 2" descr="icon_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79" y="4177711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0325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the Bias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325880" y="435254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Binarization created a severe 80:20 class imbalance between the two target classes.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5216" y="5212080"/>
            <a:ext cx="566928" cy="566928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17" name="Image 3" descr="icon_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79" y="534814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520293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Application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325880" y="55229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Synthetic Minority Over-sampling Technique (SMOTE) to establish a perfect 50:50 training ratio, preventing majority-class bias.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617220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IMBALANCED (80:20)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172200" y="169164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4" descr="1785907358644_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1789443"/>
            <a:ext cx="5029200" cy="163319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81812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617220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SMOTE BALANCED (50:50)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6172200" y="4224528"/>
            <a:ext cx="5486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28" name="Image 6" descr="1785907751310_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680" y="4442620"/>
            <a:ext cx="2377440" cy="12554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Evaluation &amp; Minimizing False Negatives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499616"/>
            <a:ext cx="566928" cy="566928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5" name="Image 0" descr="icon_x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99" y="1635679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51790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Failure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Pre-SMOTE models, like Logistic Regression, missed over 90% of actual seizures.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471416" y="1499616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9" name="Image 1" descr="icon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479" y="1635679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66360" y="151790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Model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89120" y="221284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Post-SMOTE, our tuned Random Forest ensemble outperformed LightGBM and SVM.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311896" y="1499616"/>
            <a:ext cx="566928" cy="566928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13" name="Image 2" descr="icon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7959" y="1635679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06840" y="151790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Safety First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229600" y="221284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achieved &gt;97% Recall, missing only 13 seizures out of thousands of test samples.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1935328" y="2971800"/>
            <a:ext cx="8321040" cy="3199938"/>
          </a:xfrm>
          <a:prstGeom prst="roundRect">
            <a:avLst>
              <a:gd name="adj" fmla="val 2858"/>
            </a:avLst>
          </a:prstGeom>
          <a:solidFill>
            <a:srgbClr val="FFFFFF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7" name="Image 3" descr="confusion_annota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3928" y="3200400"/>
            <a:ext cx="7863840" cy="27427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935328" y="623574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</a:t>
            </a: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Forest's 13 false negatives — the lowest miss-rate among all models tested.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UI &amp; CLOUD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NeuroPulse AI: Live Cloud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5" name="Image 0" descr="icon_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1750162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6002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Infrastructure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61872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an AWS EC2 instance using a lightweight Python Flask backend.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78892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9" name="Image 1" descr="icon_layer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92059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27706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Batch Processing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61872" y="30906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multi-hour files into 1-second chunks to prevent server memory crashes.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3959352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13" name="Image 2" descr="icon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4" y="409102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61872" y="394106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Diagnostic Map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61872" y="426110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hours of data into a color-coded timeline for instant visual triage.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129784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17" name="Image 3" descr="icon_wave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5261458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511149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AJAX Waveform Viewer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61872" y="543153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headless Matplotlib to render raw waveform graphs instantly without page reloads.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892040" y="137160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SEIZURE ALERT &amp; TIMELINE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892040" y="1691640"/>
            <a:ext cx="3232404" cy="2575249"/>
          </a:xfrm>
          <a:prstGeom prst="roundRect">
            <a:avLst>
              <a:gd name="adj" fmla="val 2841"/>
            </a:avLst>
          </a:prstGeom>
          <a:solidFill>
            <a:srgbClr val="0E1424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4" descr="1785908256435_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040" y="1766209"/>
            <a:ext cx="3232404" cy="2426111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8380476" y="1691640"/>
            <a:ext cx="3232404" cy="2575249"/>
          </a:xfrm>
          <a:prstGeom prst="roundRect">
            <a:avLst>
              <a:gd name="adj" fmla="val 2841"/>
            </a:avLst>
          </a:prstGeom>
          <a:solidFill>
            <a:srgbClr val="0E1424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24" name="Image 5" descr="1785908353379_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0476" y="1691640"/>
            <a:ext cx="3232404" cy="2575249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892040" y="4449769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segments flag seizure activity; green confirms normal brainwaves — clinicians verify instantly with the raw waveform viewer.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OF THE OVERALL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Impact &amp; Value Proposition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520440" cy="4023360"/>
          </a:xfrm>
          <a:prstGeom prst="roundRect">
            <a:avLst>
              <a:gd name="adj" fmla="val 4156"/>
            </a:avLst>
          </a:prstGeom>
          <a:solidFill>
            <a:srgbClr val="141B2E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97380" y="22860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6" name="Image 0" descr="icon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836" y="250545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83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Efficiency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0233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valuable hours of physician time, significantly reducing hospital operating costs.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874520"/>
            <a:ext cx="3520440" cy="4023360"/>
          </a:xfrm>
          <a:prstGeom prst="roundRect">
            <a:avLst>
              <a:gd name="adj" fmla="val 4156"/>
            </a:avLst>
          </a:prstGeom>
          <a:solidFill>
            <a:srgbClr val="141B2E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83580" y="2286000"/>
            <a:ext cx="914400" cy="91440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11" name="Image 1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3036" y="250545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3383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800600" y="40233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maximizing Recall and minimizing False Negatives, the system ensures critical neurological emergencies are never overlooked.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66760" y="1874520"/>
            <a:ext cx="3520440" cy="4023360"/>
          </a:xfrm>
          <a:prstGeom prst="roundRect">
            <a:avLst>
              <a:gd name="adj" fmla="val 4156"/>
            </a:avLst>
          </a:prstGeom>
          <a:solidFill>
            <a:srgbClr val="141B2E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69780" y="2286000"/>
            <a:ext cx="914400" cy="914400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16" name="Image 2" descr="icon_hosp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36" y="2505456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383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Transformation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686800" y="40233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Intensive Care Units (ICUs) from manual scrolling to automated, real-time triage.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IMPROVEMENT AREAS /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 &amp; Scalability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91640" y="2331720"/>
            <a:ext cx="8823960" cy="0"/>
          </a:xfrm>
          <a:prstGeom prst="line">
            <a:avLst/>
          </a:prstGeom>
          <a:noFill/>
          <a:ln w="25400">
            <a:solidFill>
              <a:srgbClr val="3D3468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965960" y="1943100"/>
            <a:ext cx="777240" cy="77724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6" name="Image 0" descr="icon_networkW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498" y="212963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10612" y="1764792"/>
            <a:ext cx="365760" cy="365760"/>
          </a:xfrm>
          <a:prstGeom prst="rect">
            <a:avLst/>
          </a:prstGeom>
          <a:solidFill>
            <a:srgbClr val="0B0F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IoT Integration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31520" y="342900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the ingestion pipeline to support live WebSocket streaming directly from hospital IoT EEG caps.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52160" y="1943100"/>
            <a:ext cx="777240" cy="77724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1" name="Image 1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698" y="212963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6812" y="1764792"/>
            <a:ext cx="365760" cy="365760"/>
          </a:xfrm>
          <a:prstGeom prst="rect">
            <a:avLst/>
          </a:prstGeom>
          <a:solidFill>
            <a:srgbClr val="0B0F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805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Architecture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17720" y="342900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the AWS backend using a Gunicorn and Nginx cluster to support multi-hospital, high-traffic deployment.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738360" y="1943100"/>
            <a:ext cx="777240" cy="77724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6" name="Image 2" descr="icon_brain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898" y="212963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383012" y="1764792"/>
            <a:ext cx="365760" cy="365760"/>
          </a:xfrm>
          <a:prstGeom prst="rect">
            <a:avLst/>
          </a:prstGeom>
          <a:solidFill>
            <a:srgbClr val="0B0F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3667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Diagnostics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503920" y="342900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model's capabilities to classify specific seizure subtypes, e.g. Grand Mal vs. Petit Mal.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94360" y="5760720"/>
            <a:ext cx="10972800" cy="685800"/>
          </a:xfrm>
          <a:prstGeom prst="roundRect">
            <a:avLst>
              <a:gd name="adj" fmla="val 16000"/>
            </a:avLst>
          </a:prstGeom>
          <a:solidFill>
            <a:srgbClr val="141B2E"/>
          </a:solidFill>
          <a:ln w="12700">
            <a:solidFill>
              <a:srgbClr val="232B4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914400" y="57607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 </a:t>
            </a:r>
            <a:r>
              <a:rPr lang="en-US" sz="12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single-lab prototype to a real-time, enterprise-grade clinical safety net for every ICU bed.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529</Words>
  <Application>Microsoft Macintosh PowerPoint</Application>
  <PresentationFormat>Widescreen</PresentationFormat>
  <Paragraphs>69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Microsoft Office User</cp:lastModifiedBy>
  <cp:revision>2</cp:revision>
  <dcterms:created xsi:type="dcterms:W3CDTF">2026-08-05T05:46:48Z</dcterms:created>
  <dcterms:modified xsi:type="dcterms:W3CDTF">2026-08-05T06:13:23Z</dcterms:modified>
</cp:coreProperties>
</file>