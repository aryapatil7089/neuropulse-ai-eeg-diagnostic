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>
        <p:scale>
          <a:sx n="121" d="100"/>
          <a:sy n="121" d="100"/>
        </p:scale>
        <p:origin x="30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06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85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92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09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586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30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3583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21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411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970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557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217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299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52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967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7383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0725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4511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8/6/26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07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Bottleneck in Epilepsy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116836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44" y="2274844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221992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EEG monitoring generates massive, multi-hour files containing millions of raw data points per patient.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" y="3534156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9" name="Image 1" descr="icon_doctor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44" y="3692164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735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Fatigue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639312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Neurologists suffer severe diagnostic fatigue manually scrolling to locate brief 5-10 second seizure events.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936" y="4951476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2" descr="icon_triangleEx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44" y="5109484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90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056632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manual workflow creates a dangerous bottleneck, increasing human error and delaying emergency triage.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086600" y="141732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86600" y="1673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MULTI-CHANNEL EEG SIGNAL</a:t>
            </a:r>
            <a:endParaRPr lang="en-US" sz="1100" dirty="0"/>
          </a:p>
        </p:txBody>
      </p:sp>
      <p:pic>
        <p:nvPicPr>
          <p:cNvPr id="18" name="Image 3" descr="messy_ee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103120"/>
            <a:ext cx="3749040" cy="30617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5486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simultaneous channels — a seizure hides in seconds of signal like this, buried across hours of recording.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SOLUTION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 &amp; Data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700784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79" y="1836847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011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clinical 178 Hz continuous EEG data from the University of Bonn.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5216" y="2871216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1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79" y="3007279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62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Engineering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1821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original 5 clinical classes into a strict binary target: Seizure (1) vs. Non-Seizure (0).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5216" y="4041648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2" descr="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79" y="4177711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325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Bias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352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Binarization created a severe 80:20 class imbalance between the two target classes.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5216" y="521208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7" name="Image 3" descr="icon_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79" y="534814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202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Application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55229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Synthetic Minority Over-sampling Technique (SMOTE) to establish a perfect 50:50 training ratio, preventing majority-class bias.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172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IMBALANCED (80:20)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16916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4" descr="1785907358644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789443"/>
            <a:ext cx="5029200" cy="1633194"/>
          </a:xfrm>
          <a:prstGeom prst="rect">
            <a:avLst/>
          </a:prstGeom>
        </p:spPr>
      </p:pic>
      <p:pic>
        <p:nvPicPr>
          <p:cNvPr id="24" name="Image 5" descr="icon_arrowR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467" y="3734867"/>
            <a:ext cx="211226" cy="21122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818120" y="3694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1722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SMOTE BALANCED (50:50)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172200" y="4224528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8" name="Image 6" descr="1785907751310_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0" y="4442620"/>
            <a:ext cx="2377440" cy="1255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&amp; Prioritizing Clinical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499616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5" name="Image 0" descr="icon_triangle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163567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1790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Failure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Pre-SMOTE baseline models completely failed in a clinical setting, missing &gt;90% of actual seizures due to class imbalance.</a:t>
            </a:r>
            <a:endParaRPr lang="en-US" sz="1200" dirty="0"/>
          </a:p>
        </p:txBody>
      </p:sp>
      <p:pic>
        <p:nvPicPr>
          <p:cNvPr id="9" name="Image 1" descr="icon_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479" y="1635679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151790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Model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8912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Random Forest (trained on SMOTE-balanced data) achieved the absolute highest clinical safety &amp; </a:t>
            </a: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Light GBM and SVM.</a:t>
            </a:r>
            <a:endParaRPr lang="en-US" sz="1150" dirty="0"/>
          </a:p>
        </p:txBody>
      </p:sp>
      <p:pic>
        <p:nvPicPr>
          <p:cNvPr id="13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959" y="163567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6840" y="151790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First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2960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935328" y="3017520"/>
            <a:ext cx="8321040" cy="3222662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7" name="Image 3" descr="confusion_annotated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928" y="3246120"/>
            <a:ext cx="7863840" cy="27654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35328" y="626761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</a:t>
            </a: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8 false negatives - the lowest miss-rate among all models tested</a:t>
            </a:r>
            <a:endParaRPr lang="en-US" sz="11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6248194C-282B-AE8A-80D4-44144008712A}"/>
              </a:ext>
            </a:extLst>
          </p:cNvPr>
          <p:cNvSpPr/>
          <p:nvPr/>
        </p:nvSpPr>
        <p:spPr>
          <a:xfrm>
            <a:off x="4471416" y="1499616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20" name="Image 1" descr="icon_robot.png">
            <a:extLst>
              <a:ext uri="{FF2B5EF4-FFF2-40B4-BE49-F238E27FC236}">
                <a16:creationId xmlns:a16="http://schemas.microsoft.com/office/drawing/2014/main" id="{A5B83EEC-1A51-82CB-AA9A-896F88A5E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478" y="1634563"/>
            <a:ext cx="294803" cy="294803"/>
          </a:xfrm>
          <a:prstGeom prst="rect">
            <a:avLst/>
          </a:prstGeom>
        </p:spPr>
      </p:pic>
      <p:sp>
        <p:nvSpPr>
          <p:cNvPr id="21" name="Shape 8">
            <a:extLst>
              <a:ext uri="{FF2B5EF4-FFF2-40B4-BE49-F238E27FC236}">
                <a16:creationId xmlns:a16="http://schemas.microsoft.com/office/drawing/2014/main" id="{1EFA9E71-93FD-0B3D-E2A6-8D4282296A59}"/>
              </a:ext>
            </a:extLst>
          </p:cNvPr>
          <p:cNvSpPr/>
          <p:nvPr/>
        </p:nvSpPr>
        <p:spPr>
          <a:xfrm>
            <a:off x="8311896" y="1499616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pic>
        <p:nvPicPr>
          <p:cNvPr id="22" name="Image 2" descr="icon_shield.png">
            <a:extLst>
              <a:ext uri="{FF2B5EF4-FFF2-40B4-BE49-F238E27FC236}">
                <a16:creationId xmlns:a16="http://schemas.microsoft.com/office/drawing/2014/main" id="{8E94FC37-4101-8ED1-72CB-F865F37B4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959" y="1634564"/>
            <a:ext cx="294803" cy="2948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25CA25-E18B-EC95-4398-6EFBEF9D845B}"/>
              </a:ext>
            </a:extLst>
          </p:cNvPr>
          <p:cNvSpPr txBox="1"/>
          <p:nvPr/>
        </p:nvSpPr>
        <p:spPr>
          <a:xfrm>
            <a:off x="8229599" y="2186229"/>
            <a:ext cx="3108961" cy="716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&gt;98% Recall, missing only 8 seizures out of thousands of test samples.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UI &amp; CLOUD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NeuroPulse AI: Live Cloud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5" name="Image 0" descr="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1750162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600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61872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an AWS EC2 instance using a lightweight Python Flask backend.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261872" y="27706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Clinical-Grade Ingestion </a:t>
            </a:r>
            <a:r>
              <a:rPr sz="1050" b="1">
                <a:solidFill>
                  <a:srgbClr val="22C55E"/>
                </a:solidFill>
                <a:latin typeface="Calibri"/>
              </a:rPr>
              <a:t>✓ EDF LIVE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61872" y="3090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multi-hour recordings — including native hospital .edf files via the MNE library — into 1-second chunks, auto-detecting sampling frequency to prevent server memory crashes.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959352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3" name="Image 2" descr="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409102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9410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Diagnostic Map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61872" y="42611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hours of data into a color-coded timeline (Red = Seizure, Green = Normal) for instant visual triage.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129784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pic>
        <p:nvPicPr>
          <p:cNvPr id="17" name="Image 3" descr="icon_wave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4" y="5261458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5111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Waveform Viewer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61872" y="543153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headless Matplotlib to render raw waveform graphs instantly for clinical verification without page reloads.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892040" y="137160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SEIZURE ALERT &amp; TIMELINE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892040" y="1691640"/>
            <a:ext cx="3232404" cy="2575249"/>
          </a:xfrm>
          <a:prstGeom prst="roundRect">
            <a:avLst>
              <a:gd name="adj" fmla="val 2841"/>
            </a:avLst>
          </a:prstGeom>
          <a:solidFill>
            <a:srgbClr val="0E1424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22" name="Image 4" descr="1785908256435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766209"/>
            <a:ext cx="3232404" cy="2426111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380476" y="1691640"/>
            <a:ext cx="3232404" cy="2575249"/>
          </a:xfrm>
          <a:prstGeom prst="roundRect">
            <a:avLst>
              <a:gd name="adj" fmla="val 2841"/>
            </a:avLst>
          </a:prstGeom>
          <a:solidFill>
            <a:srgbClr val="0E1424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24" name="Image 5" descr="1785908353379_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0476" y="1691640"/>
            <a:ext cx="3232404" cy="257524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92040" y="4449769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segments flag seizure activity; green confirms normal brainwaves — clinicians verify instantly with the raw waveform scrubber.</a:t>
            </a:r>
            <a:endParaRPr lang="en-US" sz="105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4" y="292059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292B2A43-6788-D4FA-B5BB-2715FCFDB988}"/>
              </a:ext>
            </a:extLst>
          </p:cNvPr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1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4C682F6-28BA-E181-CB3A-6B3DB810B53A}"/>
              </a:ext>
            </a:extLst>
          </p:cNvPr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Impact &amp; Value Proposition</a:t>
            </a:r>
            <a:endParaRPr lang="en-US" sz="30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1E20F94-DB0A-C847-35DE-4499BD211847}"/>
              </a:ext>
            </a:extLst>
          </p:cNvPr>
          <p:cNvSpPr/>
          <p:nvPr/>
        </p:nvSpPr>
        <p:spPr>
          <a:xfrm>
            <a:off x="594360" y="187452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98204FE-BDDC-8C0C-5AEC-38324EA40615}"/>
              </a:ext>
            </a:extLst>
          </p:cNvPr>
          <p:cNvSpPr/>
          <p:nvPr/>
        </p:nvSpPr>
        <p:spPr>
          <a:xfrm>
            <a:off x="1897380" y="22860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20" name="Image 0" descr="icon_clock.png">
            <a:extLst>
              <a:ext uri="{FF2B5EF4-FFF2-40B4-BE49-F238E27FC236}">
                <a16:creationId xmlns:a16="http://schemas.microsoft.com/office/drawing/2014/main" id="{67D0ED1F-CACF-9BD8-4261-60CAD6BFB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505456"/>
            <a:ext cx="475488" cy="475488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F995839E-2845-C44B-31F5-11E4A91AE8B1}"/>
              </a:ext>
            </a:extLst>
          </p:cNvPr>
          <p:cNvSpPr/>
          <p:nvPr/>
        </p:nvSpPr>
        <p:spPr>
          <a:xfrm>
            <a:off x="82296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318D8CC-7C6C-1ED8-BECF-A048D079032F}"/>
              </a:ext>
            </a:extLst>
          </p:cNvPr>
          <p:cNvSpPr/>
          <p:nvPr/>
        </p:nvSpPr>
        <p:spPr>
          <a:xfrm>
            <a:off x="9144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valuable hours of physician time, significantly reducing hospital operating costs.</a:t>
            </a:r>
            <a:endParaRPr lang="en-US" sz="12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F4B37ED1-152C-D05E-DD07-A26CCF63EC34}"/>
              </a:ext>
            </a:extLst>
          </p:cNvPr>
          <p:cNvSpPr/>
          <p:nvPr/>
        </p:nvSpPr>
        <p:spPr>
          <a:xfrm>
            <a:off x="4480560" y="187452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6995554A-972C-A426-4538-F656357DAD35}"/>
              </a:ext>
            </a:extLst>
          </p:cNvPr>
          <p:cNvSpPr/>
          <p:nvPr/>
        </p:nvSpPr>
        <p:spPr>
          <a:xfrm>
            <a:off x="5783580" y="2286000"/>
            <a:ext cx="914400" cy="9144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pic>
        <p:nvPicPr>
          <p:cNvPr id="25" name="Image 1" descr="icon_shield.png">
            <a:extLst>
              <a:ext uri="{FF2B5EF4-FFF2-40B4-BE49-F238E27FC236}">
                <a16:creationId xmlns:a16="http://schemas.microsoft.com/office/drawing/2014/main" id="{E136E227-69E0-82A1-CBF8-B496142CC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505456"/>
            <a:ext cx="475488" cy="475488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60E1C33D-D4E2-74CA-8A86-4FF132EFD406}"/>
              </a:ext>
            </a:extLst>
          </p:cNvPr>
          <p:cNvSpPr/>
          <p:nvPr/>
        </p:nvSpPr>
        <p:spPr>
          <a:xfrm>
            <a:off x="470916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</a:t>
            </a:r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BF8F30F8-BB30-347D-4A65-F53882DFED6F}"/>
              </a:ext>
            </a:extLst>
          </p:cNvPr>
          <p:cNvSpPr/>
          <p:nvPr/>
        </p:nvSpPr>
        <p:spPr>
          <a:xfrm>
            <a:off x="48006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maximizing Recall and minimizing False Negatives, the system ensures critical neurological emergencies are never overlooked.</a:t>
            </a:r>
            <a:endParaRPr lang="en-US" sz="12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4E845510-6B4E-A2D8-518B-40FFE0522B8A}"/>
              </a:ext>
            </a:extLst>
          </p:cNvPr>
          <p:cNvSpPr/>
          <p:nvPr/>
        </p:nvSpPr>
        <p:spPr>
          <a:xfrm>
            <a:off x="8366760" y="187452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9C8A0F2F-B14D-102C-82F5-AE8EED71B38D}"/>
              </a:ext>
            </a:extLst>
          </p:cNvPr>
          <p:cNvSpPr/>
          <p:nvPr/>
        </p:nvSpPr>
        <p:spPr>
          <a:xfrm>
            <a:off x="9669780" y="2286000"/>
            <a:ext cx="914400" cy="9144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30" name="Image 2" descr="icon_hospital.png">
            <a:extLst>
              <a:ext uri="{FF2B5EF4-FFF2-40B4-BE49-F238E27FC236}">
                <a16:creationId xmlns:a16="http://schemas.microsoft.com/office/drawing/2014/main" id="{D5D44914-A8B6-0859-6228-D5D5AFFFA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2505456"/>
            <a:ext cx="475488" cy="475488"/>
          </a:xfrm>
          <a:prstGeom prst="rect">
            <a:avLst/>
          </a:prstGeom>
        </p:spPr>
      </p:pic>
      <p:sp>
        <p:nvSpPr>
          <p:cNvPr id="31" name="Text 12">
            <a:extLst>
              <a:ext uri="{FF2B5EF4-FFF2-40B4-BE49-F238E27FC236}">
                <a16:creationId xmlns:a16="http://schemas.microsoft.com/office/drawing/2014/main" id="{60B3EDC7-12AC-706A-33BF-A0647D16F8EF}"/>
              </a:ext>
            </a:extLst>
          </p:cNvPr>
          <p:cNvSpPr/>
          <p:nvPr/>
        </p:nvSpPr>
        <p:spPr>
          <a:xfrm>
            <a:off x="859536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Transformation</a:t>
            </a:r>
            <a:endParaRPr lang="en-US" sz="16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680CB9AE-885C-58B4-4BCF-99FF4BFD3AE4}"/>
              </a:ext>
            </a:extLst>
          </p:cNvPr>
          <p:cNvSpPr/>
          <p:nvPr/>
        </p:nvSpPr>
        <p:spPr>
          <a:xfrm>
            <a:off x="86868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Intensive Care Units (ICUs) from manual scrolling to automated, real-time triage.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 AREAS /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Scalability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50392" y="1837944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6" name="Image 0" descr="icon_network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76" y="196522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IoT Integration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96312"/>
            <a:ext cx="4709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ingestion pipeline to support live WebSocket streaming directly from hospital IoT EEG caps.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9672" y="1837944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178040" y="18013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496312"/>
            <a:ext cx="4709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SHAP-based feature attribution onto the waveform viewer, so clinicians see exactly which signal features triggered a seizure flag — building trust beyond a black-box prediction.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50392" y="4261104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16" name="Image 2" descr="icon_brain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76" y="4388388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245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Diagnostics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919472"/>
            <a:ext cx="4709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model's capabilities to classify specific seizure subtypes, e.g., Grand Mal vs. Petit Mal.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41B2E"/>
          </a:solidFill>
          <a:ln w="12700">
            <a:solidFill>
              <a:srgbClr val="232B4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19672" y="4261104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21" name="Image 3" descr="icon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956" y="4388388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245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919472"/>
            <a:ext cx="4709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AWS backend using a Gunicorn and Nginx cluster to support multi-hospital, high-traffic deployment.</a:t>
            </a:r>
            <a:endParaRPr lang="en-US" sz="1100" dirty="0"/>
          </a:p>
        </p:txBody>
      </p:sp>
      <p:pic>
        <p:nvPicPr>
          <p:cNvPr id="24" name="Picture 23" descr="icon_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956" y="1965228"/>
            <a:ext cx="275783" cy="27578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{D8DD2ACC-1476-3645-8ED3-9F05A5716F65}TFc566aa0b-6b9d-4b42-b0ad-9ea4aec0ae63248328a8-9da4c62369fb</Template>
  <TotalTime>30</TotalTime>
  <Words>585</Words>
  <Application>Microsoft Macintosh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2026-08-06T05:15:29Z</dcterms:created>
  <dcterms:modified xsi:type="dcterms:W3CDTF">2026-08-06T05:47:53Z</dcterms:modified>
</cp:coreProperties>
</file>